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· WHY HYBRID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Promptfoo has the taxonomy. PyRIT has the engine. Neither alone runs inside our walls.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53949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92224"/>
            <a:ext cx="493776" cy="493776"/>
          </a:xfrm>
          <a:prstGeom prst="ellipse">
            <a:avLst/>
          </a:prstGeom>
          <a:solidFill>
            <a:srgbClr val="2A355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915668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99032" y="177393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99032" y="2048256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taxonomy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395728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9848" y="2359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plugins · objectives + rubrics · OWASP LLM / Agentic / ATLAS mapped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95528" y="2670048"/>
            <a:ext cx="201168" cy="201168"/>
          </a:xfrm>
          <a:prstGeom prst="ellipse">
            <a:avLst/>
          </a:prstGeom>
          <a:solidFill>
            <a:srgbClr val="F6E9E7"/>
          </a:solidFill>
          <a:ln w="12700">
            <a:solidFill>
              <a:srgbClr val="9E2B2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5528" y="26700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69848" y="2633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generation is server-side — can't run air-gapped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63640" y="1536192"/>
            <a:ext cx="539496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37960" y="1792224"/>
            <a:ext cx="493776" cy="493776"/>
          </a:xfrm>
          <a:prstGeom prst="ellipse">
            <a:avLst/>
          </a:prstGeom>
          <a:solidFill>
            <a:srgbClr val="2C8A86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404" y="1915668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59752" y="177393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159752" y="2048256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395728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30568" y="2359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Crescendo · TAP · PAIR · RedTeaming · converters · scorers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556248" y="2670048"/>
            <a:ext cx="201168" cy="201168"/>
          </a:xfrm>
          <a:prstGeom prst="ellipse">
            <a:avLst/>
          </a:prstGeom>
          <a:solidFill>
            <a:srgbClr val="F6E9E7"/>
          </a:solidFill>
          <a:ln w="12700">
            <a:solidFill>
              <a:srgbClr val="9E2B25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556248" y="26700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830568" y="2633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no taxonomy, no corpus, no coverage map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897880" y="208483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B95A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</a:t>
            </a:r>
            <a:endParaRPr lang="en-US" sz="2600" dirty="0"/>
          </a:p>
        </p:txBody>
      </p:sp>
      <p:sp>
        <p:nvSpPr>
          <p:cNvPr id="25" name="Shape 19"/>
          <p:cNvSpPr/>
          <p:nvPr/>
        </p:nvSpPr>
        <p:spPr>
          <a:xfrm>
            <a:off x="3200400" y="3017520"/>
            <a:ext cx="0" cy="329184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8961120" y="3017520"/>
            <a:ext cx="0" cy="329184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502920" y="3401568"/>
            <a:ext cx="11155680" cy="1828800"/>
          </a:xfrm>
          <a:prstGeom prst="roundRect">
            <a:avLst>
              <a:gd name="adj" fmla="val 5000"/>
            </a:avLst>
          </a:prstGeom>
          <a:solidFill>
            <a:srgbClr val="F6E9E7"/>
          </a:solidFill>
          <a:ln w="17780">
            <a:solidFill>
              <a:srgbClr val="9E2B2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822960" y="35478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HYBRID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2514600" y="3547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· mappable · runs fully offline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822960" y="3858768"/>
            <a:ext cx="182880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554480" y="3931920"/>
            <a:ext cx="365760" cy="365760"/>
          </a:xfrm>
          <a:prstGeom prst="ellipse">
            <a:avLst/>
          </a:prstGeom>
          <a:solidFill>
            <a:srgbClr val="2A355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4023360"/>
            <a:ext cx="182880" cy="1828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59536" y="43342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corpus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859536" y="453542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+ rubrics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static file</a:t>
            </a:r>
            <a:endParaRPr lang="en-US" sz="8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5768" y="4242816"/>
            <a:ext cx="201168" cy="201168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2999232" y="3858768"/>
            <a:ext cx="182880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730752" y="3931920"/>
            <a:ext cx="365760" cy="365760"/>
          </a:xfrm>
          <a:prstGeom prst="ellipse">
            <a:avLst/>
          </a:prstGeom>
          <a:solidFill>
            <a:srgbClr val="2C8A86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2192" y="4023360"/>
            <a:ext cx="182880" cy="18288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035808" y="43342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 orchestrator</a:t>
            </a:r>
            <a:endParaRPr lang="en-US" sz="1050" dirty="0"/>
          </a:p>
        </p:txBody>
      </p:sp>
      <p:sp>
        <p:nvSpPr>
          <p:cNvPr id="40" name="Text 31"/>
          <p:cNvSpPr/>
          <p:nvPr/>
        </p:nvSpPr>
        <p:spPr>
          <a:xfrm>
            <a:off x="3035808" y="453542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loop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polarity adapter</a:t>
            </a:r>
            <a:endParaRPr lang="en-US" sz="80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4242816"/>
            <a:ext cx="201168" cy="201168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5175504" y="3858768"/>
            <a:ext cx="182880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43" name="Shape 33"/>
          <p:cNvSpPr/>
          <p:nvPr/>
        </p:nvSpPr>
        <p:spPr>
          <a:xfrm>
            <a:off x="5907024" y="3931920"/>
            <a:ext cx="365760" cy="365760"/>
          </a:xfrm>
          <a:prstGeom prst="ellipse">
            <a:avLst/>
          </a:prstGeom>
          <a:solidFill>
            <a:srgbClr val="9E2B25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8464" y="4023360"/>
            <a:ext cx="182880" cy="18288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5212080" y="43342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attacker</a:t>
            </a:r>
            <a:endParaRPr lang="en-US" sz="1050" dirty="0"/>
          </a:p>
        </p:txBody>
      </p:sp>
      <p:sp>
        <p:nvSpPr>
          <p:cNvPr id="46" name="Text 35"/>
          <p:cNvSpPr/>
          <p:nvPr/>
        </p:nvSpPr>
        <p:spPr>
          <a:xfrm>
            <a:off x="5212080" y="453542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Dolphin 3.0 8B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vLLM</a:t>
            </a:r>
            <a:endParaRPr lang="en-US" sz="800" dirty="0"/>
          </a:p>
        </p:txBody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68312" y="4242816"/>
            <a:ext cx="201168" cy="201168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7351776" y="3858768"/>
            <a:ext cx="182880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49" name="Shape 37"/>
          <p:cNvSpPr/>
          <p:nvPr/>
        </p:nvSpPr>
        <p:spPr>
          <a:xfrm>
            <a:off x="8083296" y="3931920"/>
            <a:ext cx="365760" cy="365760"/>
          </a:xfrm>
          <a:prstGeom prst="ellipse">
            <a:avLst/>
          </a:prstGeom>
          <a:solidFill>
            <a:srgbClr val="C6892E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4736" y="4023360"/>
            <a:ext cx="182880" cy="182880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7388352" y="43342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agent</a:t>
            </a:r>
            <a:endParaRPr lang="en-US" sz="1050" dirty="0"/>
          </a:p>
        </p:txBody>
      </p:sp>
      <p:sp>
        <p:nvSpPr>
          <p:cNvPr id="52" name="Text 39"/>
          <p:cNvSpPr/>
          <p:nvPr/>
        </p:nvSpPr>
        <p:spPr>
          <a:xfrm>
            <a:off x="7388352" y="453542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internal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only</a:t>
            </a:r>
            <a:endParaRPr lang="en-US" sz="800" dirty="0"/>
          </a:p>
        </p:txBody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44584" y="4242816"/>
            <a:ext cx="201168" cy="201168"/>
          </a:xfrm>
          <a:prstGeom prst="rect">
            <a:avLst/>
          </a:prstGeom>
        </p:spPr>
      </p:pic>
      <p:sp>
        <p:nvSpPr>
          <p:cNvPr id="54" name="Shape 40"/>
          <p:cNvSpPr/>
          <p:nvPr/>
        </p:nvSpPr>
        <p:spPr>
          <a:xfrm>
            <a:off x="9528048" y="3858768"/>
            <a:ext cx="1828800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55" name="Shape 41"/>
          <p:cNvSpPr/>
          <p:nvPr/>
        </p:nvSpPr>
        <p:spPr>
          <a:xfrm>
            <a:off x="10259568" y="3931920"/>
            <a:ext cx="365760" cy="365760"/>
          </a:xfrm>
          <a:prstGeom prst="ellipse">
            <a:avLst/>
          </a:prstGeom>
          <a:solidFill>
            <a:srgbClr val="2A355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5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51008" y="4023360"/>
            <a:ext cx="182880" cy="182880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9564624" y="43342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Grader</a:t>
            </a:r>
            <a:endParaRPr lang="en-US" sz="1050" dirty="0"/>
          </a:p>
        </p:txBody>
      </p:sp>
      <p:sp>
        <p:nvSpPr>
          <p:cNvPr id="58" name="Text 43"/>
          <p:cNvSpPr/>
          <p:nvPr/>
        </p:nvSpPr>
        <p:spPr>
          <a:xfrm>
            <a:off x="9564624" y="453542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text-layer  |  trace-layer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plugin class</a:t>
            </a:r>
            <a:endParaRPr lang="en-US" sz="800" dirty="0"/>
          </a:p>
        </p:txBody>
      </p:sp>
      <p:sp>
        <p:nvSpPr>
          <p:cNvPr id="59" name="Text 44"/>
          <p:cNvSpPr/>
          <p:nvPr/>
        </p:nvSpPr>
        <p:spPr>
          <a:xfrm>
            <a:off x="822960" y="4864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leaves the bank: </a:t>
            </a:r>
            <a:pPr indent="0" marL="0">
              <a:buNone/>
            </a:pPr>
            <a:r>
              <a:rPr lang="en-US" sz="11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corpus, attacker, traces and verdicts all stay in-house.</a:t>
            </a:r>
            <a:endParaRPr lang="en-US" sz="1100" dirty="0"/>
          </a:p>
        </p:txBody>
      </p:sp>
      <p:sp>
        <p:nvSpPr>
          <p:cNvPr id="60" name="Shape 45"/>
          <p:cNvSpPr/>
          <p:nvPr/>
        </p:nvSpPr>
        <p:spPr>
          <a:xfrm>
            <a:off x="502920" y="5413248"/>
            <a:ext cx="11155680" cy="658368"/>
          </a:xfrm>
          <a:prstGeom prst="roundRect">
            <a:avLst>
              <a:gd name="adj" fmla="val 13889"/>
            </a:avLst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pic>
        <p:nvPicPr>
          <p:cNvPr id="6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808" y="5568696"/>
            <a:ext cx="310896" cy="310896"/>
          </a:xfrm>
          <a:prstGeom prst="rect">
            <a:avLst/>
          </a:prstGeom>
        </p:spPr>
      </p:pic>
      <p:sp>
        <p:nvSpPr>
          <p:cNvPr id="62" name="Text 46"/>
          <p:cNvSpPr/>
          <p:nvPr/>
        </p:nvSpPr>
        <p:spPr>
          <a:xfrm>
            <a:off x="1234440" y="54132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follows the plugin, not one rule:  </a:t>
            </a:r>
            <a:pPr indent="0" marL="0">
              <a:buNone/>
            </a:pPr>
            <a:r>
              <a:rPr lang="en-US" sz="1100" dirty="0">
                <a:solidFill>
                  <a:srgbClr val="C6C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text-layer for content &amp; disclosure plugins · trace-layer for agentic/authz plugins (bola, bfla, rbac, excessive-agency) · missing evidence → </a:t>
            </a:r>
            <a:pPr indent="0" marL="0">
              <a:buNone/>
            </a:pPr>
            <a:r>
              <a:rPr lang="en-US" sz="1100" b="1" dirty="0">
                <a:solidFill>
                  <a:srgbClr val="F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UNSCORABLE</a:t>
            </a:r>
            <a:pPr indent="0" marL="0">
              <a:buNone/>
            </a:pPr>
            <a:r>
              <a:rPr lang="en-US" sz="1100" dirty="0">
                <a:solidFill>
                  <a:srgbClr val="C6C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never a false clean.</a:t>
            </a:r>
            <a:endParaRPr lang="en-US" sz="1100" dirty="0"/>
          </a:p>
        </p:txBody>
      </p:sp>
      <p:sp>
        <p:nvSpPr>
          <p:cNvPr id="63" name="Text 47"/>
          <p:cNvSpPr/>
          <p:nvPr/>
        </p:nvSpPr>
        <p:spPr>
          <a:xfrm>
            <a:off x="502920" y="61996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 taxonomy (MIT, extracted) + PyRIT 0.14.x + local vLLM attacker + internal LLM gateway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Hybrid Approach</dc:title>
  <dc:subject>PptxGenJS Presentation</dc:subject>
  <dc:creator>PptxGenJS</dc:creator>
  <cp:lastModifiedBy>PptxGenJS</cp:lastModifiedBy>
  <cp:revision>1</cp:revision>
  <dcterms:created xsi:type="dcterms:W3CDTF">2026-07-17T01:31:54Z</dcterms:created>
  <dcterms:modified xsi:type="dcterms:W3CDTF">2026-07-17T01:31:54Z</dcterms:modified>
</cp:coreProperties>
</file>