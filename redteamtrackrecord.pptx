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Six business use cases red teamed across Singapore and Hong Kong, eight engagements in total — Joybot (SG) and Digibot (SG) each went through two rounds. Coverage runs continuously from Q1 2025 to Q2 2026 across conversational AI, digital assistants and voice channels. Note: the previous version of this slide claimed 7 use cases; confirm whether a seventh exists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Teamed Business Use Cases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 across Singapore and Hong Kong — a growing assurance capability spanning conversational AI, digital assistants and voice channels.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71432" y="457200"/>
            <a:ext cx="2468880" cy="1078992"/>
          </a:xfrm>
          <a:prstGeom prst="roundRect">
            <a:avLst>
              <a:gd name="adj" fmla="val 5932"/>
            </a:avLst>
          </a:prstGeom>
          <a:solidFill>
            <a:srgbClr val="6B2130"/>
          </a:solidFill>
          <a:ln w="12700">
            <a:solidFill>
              <a:srgbClr val="6B21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00032" y="5486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9400032" y="1097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EA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ENGAGEMENTS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60120" y="3694176"/>
            <a:ext cx="9966960" cy="27432"/>
          </a:xfrm>
          <a:prstGeom prst="rect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3474720"/>
            <a:ext cx="10973" cy="438912"/>
          </a:xfrm>
          <a:prstGeom prst="rect">
            <a:avLst/>
          </a:prstGeom>
          <a:solidFill>
            <a:srgbClr val="D6CBC2"/>
          </a:solidFill>
          <a:ln w="6350">
            <a:solidFill>
              <a:srgbClr val="D6CB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92885" y="3063240"/>
            <a:ext cx="14630" cy="534924"/>
          </a:xfrm>
          <a:prstGeom prst="rect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659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AE4DD"/>
            </a:solidFill>
            <a:prstDash val="solid"/>
          </a:ln>
          <a:effectLst>
            <a:outerShdw sx="100000" sy="100000" kx="0" ky="0" algn="bl" rotWithShape="0" blurRad="101600" dist="25400" dir="5400000">
              <a:srgbClr val="9A8F84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94944" y="2057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92224" y="204825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1E7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92224" y="204825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6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ROUNDS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" y="22951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Joybot (SG)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" y="263347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 ·  Q2 2026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81328" y="3589020"/>
            <a:ext cx="237744" cy="237744"/>
          </a:xfrm>
          <a:prstGeom prst="ellipse">
            <a:avLst/>
          </a:prstGeom>
          <a:solidFill>
            <a:srgbClr val="F8F6F3"/>
          </a:solidFill>
          <a:ln w="22225">
            <a:solidFill>
              <a:srgbClr val="6B21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49908" y="3657600"/>
            <a:ext cx="100584" cy="100584"/>
          </a:xfrm>
          <a:prstGeom prst="ellipse">
            <a:avLst/>
          </a:prstGeom>
          <a:solidFill>
            <a:srgbClr val="6B21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0245" y="3817620"/>
            <a:ext cx="14630" cy="480060"/>
          </a:xfrm>
          <a:prstGeom prst="rect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4297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AE4DD"/>
            </a:solidFill>
            <a:prstDash val="solid"/>
          </a:ln>
          <a:effectLst>
            <a:outerShdw sx="100000" sy="100000" kx="0" ky="0" algn="bl" rotWithShape="0" blurRad="101600" dist="25400" dir="5400000">
              <a:srgbClr val="9A8F84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432304" y="4389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29584" y="437997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1E7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9584" y="4379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70" kern="0" dirty="0">
                <a:solidFill>
                  <a:srgbClr val="6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ROUNDS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2432304" y="462686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Digibot (SG)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432304" y="496519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  ·  Q2 2026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3589020"/>
            <a:ext cx="237744" cy="237744"/>
          </a:xfrm>
          <a:prstGeom prst="ellipse">
            <a:avLst/>
          </a:prstGeom>
          <a:solidFill>
            <a:srgbClr val="F8F6F3"/>
          </a:solidFill>
          <a:ln w="22225">
            <a:solidFill>
              <a:srgbClr val="6B21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87268" y="3657600"/>
            <a:ext cx="100584" cy="100584"/>
          </a:xfrm>
          <a:prstGeom prst="ellipse">
            <a:avLst/>
          </a:prstGeom>
          <a:solidFill>
            <a:srgbClr val="6B21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67605" y="3063240"/>
            <a:ext cx="14630" cy="534924"/>
          </a:xfrm>
          <a:prstGeom prst="rect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0" y="19659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AE4DD"/>
            </a:solidFill>
            <a:prstDash val="solid"/>
          </a:ln>
          <a:effectLst>
            <a:outerShdw sx="100000" sy="100000" kx="0" ky="0" algn="bl" rotWithShape="0" blurRad="101600" dist="25400" dir="5400000">
              <a:srgbClr val="9A8F84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169664" y="2057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169664" y="22951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Joybot (HK)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169664" y="263347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56048" y="3589020"/>
            <a:ext cx="237744" cy="237744"/>
          </a:xfrm>
          <a:prstGeom prst="ellipse">
            <a:avLst/>
          </a:prstGeom>
          <a:solidFill>
            <a:srgbClr val="F8F6F3"/>
          </a:solidFill>
          <a:ln w="22225">
            <a:solidFill>
              <a:srgbClr val="6B21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4628" y="3657600"/>
            <a:ext cx="100584" cy="100584"/>
          </a:xfrm>
          <a:prstGeom prst="ellipse">
            <a:avLst/>
          </a:prstGeom>
          <a:solidFill>
            <a:srgbClr val="6B21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4965" y="3817620"/>
            <a:ext cx="14630" cy="480060"/>
          </a:xfrm>
          <a:prstGeom prst="rect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4297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AE4DD"/>
            </a:solidFill>
            <a:prstDash val="solid"/>
          </a:ln>
          <a:effectLst>
            <a:outerShdw sx="100000" sy="100000" kx="0" ky="0" algn="bl" rotWithShape="0" blurRad="101600" dist="25400" dir="5400000">
              <a:srgbClr val="9A8F84">
                <a:alpha val="16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5907024" y="4389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907024" y="462686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3.0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907024" y="496519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93408" y="3589020"/>
            <a:ext cx="237744" cy="237744"/>
          </a:xfrm>
          <a:prstGeom prst="ellipse">
            <a:avLst/>
          </a:prstGeom>
          <a:solidFill>
            <a:srgbClr val="F8F6F3"/>
          </a:solidFill>
          <a:ln w="22225">
            <a:solidFill>
              <a:srgbClr val="6B21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1988" y="3657600"/>
            <a:ext cx="100584" cy="100584"/>
          </a:xfrm>
          <a:prstGeom prst="ellipse">
            <a:avLst/>
          </a:prstGeom>
          <a:solidFill>
            <a:srgbClr val="6B21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42325" y="3063240"/>
            <a:ext cx="14630" cy="534924"/>
          </a:xfrm>
          <a:prstGeom prst="rect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19659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AE4DD"/>
            </a:solidFill>
            <a:prstDash val="solid"/>
          </a:ln>
          <a:effectLst>
            <a:outerShdw sx="100000" sy="100000" kx="0" ky="0" algn="bl" rotWithShape="0" blurRad="101600" dist="25400" dir="5400000">
              <a:srgbClr val="9A8F84">
                <a:alpha val="16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7644384" y="2057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644384" y="22951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Digibot (HK)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644384" y="263347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430768" y="3589020"/>
            <a:ext cx="237744" cy="237744"/>
          </a:xfrm>
          <a:prstGeom prst="ellipse">
            <a:avLst/>
          </a:prstGeom>
          <a:solidFill>
            <a:srgbClr val="F8F6F3"/>
          </a:solidFill>
          <a:ln w="22225">
            <a:solidFill>
              <a:srgbClr val="6B213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99348" y="3657600"/>
            <a:ext cx="100584" cy="100584"/>
          </a:xfrm>
          <a:prstGeom prst="ellipse">
            <a:avLst/>
          </a:prstGeom>
          <a:solidFill>
            <a:srgbClr val="6B21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79685" y="3817620"/>
            <a:ext cx="14630" cy="480060"/>
          </a:xfrm>
          <a:prstGeom prst="rect">
            <a:avLst/>
          </a:prstGeom>
          <a:solidFill>
            <a:srgbClr val="6B2130"/>
          </a:solidFill>
          <a:ln w="6350">
            <a:solidFill>
              <a:srgbClr val="6B21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35440" y="429768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AE4DD"/>
            </a:solidFill>
            <a:prstDash val="solid"/>
          </a:ln>
          <a:effectLst>
            <a:outerShdw sx="100000" sy="100000" kx="0" ky="0" algn="bl" rotWithShape="0" blurRad="101600" dist="25400" dir="5400000">
              <a:srgbClr val="9A8F84">
                <a:alpha val="16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9381744" y="4389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381744" y="462686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Voicebot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9381744" y="496519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0168128" y="3589020"/>
            <a:ext cx="237744" cy="237744"/>
          </a:xfrm>
          <a:prstGeom prst="ellipse">
            <a:avLst/>
          </a:prstGeom>
          <a:solidFill>
            <a:srgbClr val="F8F6F3"/>
          </a:solidFill>
          <a:ln w="22225">
            <a:solidFill>
              <a:srgbClr val="6B213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36708" y="3657600"/>
            <a:ext cx="100584" cy="100584"/>
          </a:xfrm>
          <a:prstGeom prst="ellipse">
            <a:avLst/>
          </a:prstGeom>
          <a:solidFill>
            <a:srgbClr val="6B21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60120" y="3840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0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071616" y="3840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A0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5705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6144768"/>
            <a:ext cx="337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CASES RED TEAMED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246778" y="5705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60" name="Text 58"/>
          <p:cNvSpPr txBox="1"/>
          <p:nvPr/>
        </p:nvSpPr>
        <p:spPr>
          <a:xfrm>
            <a:off x="4246778" y="6144768"/>
            <a:ext cx="337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 ·  SINGAPORE &amp; HONG KONG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045610" y="5742432"/>
            <a:ext cx="9144" cy="621792"/>
          </a:xfrm>
          <a:prstGeom prst="rect">
            <a:avLst/>
          </a:prstGeom>
          <a:solidFill>
            <a:srgbClr val="E3DBD3"/>
          </a:solidFill>
          <a:ln w="6350">
            <a:solidFill>
              <a:srgbClr val="E3DBD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944917" y="5705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63" name="Text 61"/>
          <p:cNvSpPr txBox="1"/>
          <p:nvPr/>
        </p:nvSpPr>
        <p:spPr>
          <a:xfrm>
            <a:off x="7944917" y="6144768"/>
            <a:ext cx="3378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8A8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QUARTERS OF CONTINUOUS COVERAGE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743749" y="5742432"/>
            <a:ext cx="9144" cy="621792"/>
          </a:xfrm>
          <a:prstGeom prst="rect">
            <a:avLst/>
          </a:prstGeom>
          <a:solidFill>
            <a:srgbClr val="E3DBD3"/>
          </a:solidFill>
          <a:ln w="6350">
            <a:solidFill>
              <a:srgbClr val="E3DBD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6492240"/>
            <a:ext cx="11094415" cy="9144"/>
          </a:xfrm>
          <a:prstGeom prst="rect">
            <a:avLst/>
          </a:prstGeom>
          <a:solidFill>
            <a:srgbClr val="E3DBD3"/>
          </a:solidFill>
          <a:ln w="6350">
            <a:solidFill>
              <a:srgbClr val="E3DBD3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943600" y="6547104"/>
            <a:ext cx="56994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A0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 TEAMING   ·   ENTERPRISE DATA PLATFORM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2026-08-28T02:29:44Z</dcterms:created>
  <dcterms:modified xsi:type="dcterms:W3CDTF">2026-08-28T02:29:44Z</dcterms:modified>
</cp:coreProperties>
</file>