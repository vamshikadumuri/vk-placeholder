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· REAL INCIDENTS, REAL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agent moved money, another leaked data — both slipped past live 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406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029968"/>
            <a:ext cx="475488" cy="475488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48840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63040" y="2103120"/>
            <a:ext cx="1548994" cy="329184"/>
          </a:xfrm>
          <a:prstGeom prst="roundRect">
            <a:avLst>
              <a:gd name="adj" fmla="val 50000"/>
            </a:avLst>
          </a:prstGeom>
          <a:solidFill>
            <a:srgbClr val="F6E9E7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2103120"/>
            <a:ext cx="1548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MOVED MONEY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108960" y="21396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Freysa · Nov 2024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" y="2606040"/>
            <a:ext cx="2057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2B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$47K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2944368" y="263347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spc="5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BY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spc="5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ITSELF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0392" y="336499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 refusals → the 482nd message won · 195 players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50392" y="3675888"/>
            <a:ext cx="4745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 never transfer funds. The winning message faked an “admin” session and redefined its approveTransfer tool as an incoming payment — so Freysa sent out the whole pool.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1737360"/>
            <a:ext cx="54406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19672" y="2029968"/>
            <a:ext cx="475488" cy="475488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148840"/>
            <a:ext cx="237744" cy="2377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132320" y="2103120"/>
            <a:ext cx="1548994" cy="329184"/>
          </a:xfrm>
          <a:prstGeom prst="roundRect">
            <a:avLst>
              <a:gd name="adj" fmla="val 50000"/>
            </a:avLst>
          </a:prstGeom>
          <a:solidFill>
            <a:srgbClr val="EBEEF4"/>
          </a:solidFill>
          <a:ln/>
        </p:spPr>
      </p:sp>
      <p:sp>
        <p:nvSpPr>
          <p:cNvPr id="18" name="Text 14"/>
          <p:cNvSpPr/>
          <p:nvPr/>
        </p:nvSpPr>
        <p:spPr>
          <a:xfrm>
            <a:off x="7132320" y="2103120"/>
            <a:ext cx="1548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LEAKED DATA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8778240" y="21396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CVE-2025-32711 · 2025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519672" y="2606040"/>
            <a:ext cx="14173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35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9.3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7973568" y="26334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spc="5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— CRITICAL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spc="5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ZERO-CLICK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519672" y="336499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click · bypassed 3 live guardrails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519672" y="3675888"/>
            <a:ext cx="4745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Copilot. A single crafted email made it exfiltrate internal emails &amp; files — past XPIA injection filtering, link redaction and Content-Security-Policy.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" y="4645152"/>
            <a:ext cx="11155680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16200000">
              <a:srgbClr val="9AA4B8">
                <a:alpha val="24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868680" y="4809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E2B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98%</a:t>
            </a:r>
            <a:endParaRPr lang="en-US" sz="3200" dirty="0"/>
          </a:p>
        </p:txBody>
      </p:sp>
      <p:sp>
        <p:nvSpPr>
          <p:cNvPr id="26" name="Text 22"/>
          <p:cNvSpPr/>
          <p:nvPr/>
        </p:nvSpPr>
        <p:spPr>
          <a:xfrm>
            <a:off x="86868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Crescendo multi-turn beats single-turn defenses (Microsoft)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794760" y="4846320"/>
            <a:ext cx="0" cy="896112"/>
          </a:xfrm>
          <a:prstGeom prst="line">
            <a:avLst/>
          </a:prstGeom>
          <a:noFill/>
          <a:ln w="12700">
            <a:solidFill>
              <a:srgbClr val="D8DDE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023360" y="4828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35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&lt;10%</a:t>
            </a:r>
            <a:pPr indent="0" marL="0">
              <a:buNone/>
            </a:pPr>
            <a:r>
              <a:rPr lang="en-US" sz="1500" b="1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70%+</a:t>
            </a:r>
            <a:endParaRPr lang="en-US" sz="2800" dirty="0"/>
          </a:p>
        </p:txBody>
      </p:sp>
      <p:sp>
        <p:nvSpPr>
          <p:cNvPr id="29" name="Text 25"/>
          <p:cNvSpPr/>
          <p:nvPr/>
        </p:nvSpPr>
        <p:spPr>
          <a:xfrm>
            <a:off x="4023360" y="5394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→ multi-turn adaptive lift, same benchmark (Li et al.)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269480" y="4846320"/>
            <a:ext cx="0" cy="896112"/>
          </a:xfrm>
          <a:prstGeom prst="line">
            <a:avLst/>
          </a:prstGeom>
          <a:noFill/>
          <a:ln w="12700">
            <a:solidFill>
              <a:srgbClr val="D8DDE7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901184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882128" y="49194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498080" y="5212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cleared their guardrails in isolation — adaptive, agentic attacks beat them anyway. That is why adaptive red-teaming is now table stakes.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02920" y="60533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Freysa (Nov 2024) · EchoLeak CVE-2025-32711 / Aim Security · Crescendo arXiv:2404.01833 · Li et al. 2024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probes catch the known. Agents fail on the unknown.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640080" cy="640080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357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939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PROBE SCANS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00200" y="2386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Garak — fixed probe catalogs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443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2880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deterministic, repeatable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great CI regression baseline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985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2728" y="33558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corpus, mostly single-turn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known jailbreaks &amp; string tricks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52728" y="38313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the model's text output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model-layer, not agent-layer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822960" y="4398264"/>
            <a:ext cx="4617720" cy="1170432"/>
          </a:xfrm>
          <a:prstGeom prst="roundRect">
            <a:avLst>
              <a:gd name="adj" fmla="val 7031"/>
            </a:avLst>
          </a:prstGeom>
          <a:solidFill>
            <a:srgbClr val="F6E9E7"/>
          </a:solidFill>
          <a:ln w="12700">
            <a:solidFill>
              <a:srgbClr val="E7CBC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051560" y="4535424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· no tool/trace visibility · misses multi-turn escalation &amp; authorization failures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355080" y="178308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75120" y="2075688"/>
            <a:ext cx="640080" cy="640080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140" y="2235708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52360" y="20939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7452360" y="2386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 improvises against the target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95351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04888" y="2880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improvisation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Crescendo · TAP · RedTeaming</a:t>
            </a:r>
            <a:endParaRPr lang="en-US" sz="13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429000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04888" y="33558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escalation + persuasion framing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gets past turn-1 refusals</a:t>
            </a:r>
            <a:endParaRPr lang="en-US" sz="13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3904488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04888" y="38313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what the agent DOES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tool calls &amp; side effects, via trace</a:t>
            </a:r>
            <a:endParaRPr lang="en-US" sz="13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4379976"/>
            <a:ext cx="237744" cy="23774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104888" y="43068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agentic failure classes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ASI authz, tool misuse, goal hijack</a:t>
            </a:r>
            <a:endParaRPr lang="en-US" sz="1350" dirty="0"/>
          </a:p>
        </p:txBody>
      </p:sp>
      <p:sp>
        <p:nvSpPr>
          <p:cNvPr id="30" name="Shape 19"/>
          <p:cNvSpPr/>
          <p:nvPr/>
        </p:nvSpPr>
        <p:spPr>
          <a:xfrm>
            <a:off x="502920" y="5943600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25400" dir="16200000">
              <a:srgbClr val="9AA4B8">
                <a:alpha val="24000"/>
              </a:srgbClr>
            </a:outerShdw>
          </a:effectLst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6089904"/>
            <a:ext cx="365760" cy="3657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280160" y="59436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refusal to say it ≠ a refusal to do it.  </a:t>
            </a:r>
            <a:pPr indent="0" marL="0">
              <a:buNone/>
            </a:pPr>
            <a:r>
              <a:rPr lang="en-US" sz="1450" dirty="0">
                <a:solidFill>
                  <a:srgbClr val="C6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risk lives in the tool calls and boundary crossings — not the prose a static probe reads.</a:t>
            </a:r>
            <a:endParaRPr lang="en-US" sz="1450" dirty="0"/>
          </a:p>
        </p:txBody>
      </p:sp>
      <p:sp>
        <p:nvSpPr>
          <p:cNvPr id="33" name="Text 21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·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pieces fit — one adaptive run,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502920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9E2B25"/>
          </a:solidFill>
          <a:ln w="12700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64922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1115568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373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6002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· CONFIG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·  Attacker  ·  Grader  ·  Scope (plugins + PyRIT strategy + converter)  ·  App Profile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965960" y="2167128"/>
            <a:ext cx="0" cy="164592"/>
          </a:xfrm>
          <a:prstGeom prst="line">
            <a:avLst/>
          </a:prstGeom>
          <a:noFill/>
          <a:ln w="19050">
            <a:solidFill>
              <a:srgbClr val="8B95A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22960" y="23317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78992" y="2587752"/>
            <a:ext cx="566928" cy="566928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24" y="272948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 Orchestrator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932688" y="3465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AtomicAttack → Scenario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429000" y="23317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685032" y="2587752"/>
            <a:ext cx="566928" cy="566928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764" y="2729484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6616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3538728" y="3465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Dolphin 3.0 8B · vLLM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035040" y="23317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91072" y="2587752"/>
            <a:ext cx="566928" cy="566928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2729484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7220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Agent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144768" y="3465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banking demo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8641080" y="23317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897112" y="2587752"/>
            <a:ext cx="566928" cy="566928"/>
          </a:xfrm>
          <a:prstGeom prst="ellipse">
            <a:avLst/>
          </a:prstGeom>
          <a:solidFill>
            <a:srgbClr val="C6892E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8844" y="2729484"/>
            <a:ext cx="283464" cy="2834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77824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 LLM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8750808" y="3465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 · Stork gw</a:t>
            </a:r>
            <a:endParaRPr lang="en-US" sz="10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2968" y="292150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852928" y="25831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step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2921508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58968" y="25831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prompt</a:t>
            </a:r>
            <a:endParaRPr lang="en-US" sz="9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048" y="2921508"/>
            <a:ext cx="237744" cy="23774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065008" y="25831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5852160" y="4251960"/>
            <a:ext cx="2697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6016752" y="4434840"/>
            <a:ext cx="475488" cy="475488"/>
          </a:xfrm>
          <a:prstGeom prst="ellipse">
            <a:avLst/>
          </a:prstGeom>
          <a:solidFill>
            <a:srgbClr val="6A5AA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5624" y="4553712"/>
            <a:ext cx="237744" cy="23774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537960" y="43982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Tracer</a:t>
            </a:r>
            <a:endParaRPr lang="en-US" sz="1350" dirty="0"/>
          </a:p>
        </p:txBody>
      </p:sp>
      <p:sp>
        <p:nvSpPr>
          <p:cNvPr id="41" name="Text 29"/>
          <p:cNvSpPr/>
          <p:nvPr/>
        </p:nvSpPr>
        <p:spPr>
          <a:xfrm>
            <a:off x="6537960" y="46725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gen_ai.* execution spans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7200900" y="3749040"/>
            <a:ext cx="0" cy="502920"/>
          </a:xfrm>
          <a:prstGeom prst="line">
            <a:avLst/>
          </a:prstGeom>
          <a:noFill/>
          <a:ln w="19050">
            <a:solidFill>
              <a:srgbClr val="8B95A7"/>
            </a:solidFill>
            <a:prstDash val="solid"/>
            <a:tailEnd type="triangle"/>
          </a:ln>
        </p:spPr>
      </p:sp>
      <p:sp>
        <p:nvSpPr>
          <p:cNvPr id="43" name="Text 31"/>
          <p:cNvSpPr/>
          <p:nvPr/>
        </p:nvSpPr>
        <p:spPr>
          <a:xfrm>
            <a:off x="7246620" y="3794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trace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8549640" y="4672584"/>
            <a:ext cx="960120" cy="0"/>
          </a:xfrm>
          <a:prstGeom prst="line">
            <a:avLst/>
          </a:prstGeom>
          <a:noFill/>
          <a:ln w="19050">
            <a:solidFill>
              <a:srgbClr val="9E2B25"/>
            </a:solidFill>
            <a:prstDash val="dash"/>
            <a:tailEnd type="triangle"/>
          </a:ln>
        </p:spPr>
      </p:sp>
      <p:sp>
        <p:nvSpPr>
          <p:cNvPr id="45" name="Text 33"/>
          <p:cNvSpPr/>
          <p:nvPr/>
        </p:nvSpPr>
        <p:spPr>
          <a:xfrm>
            <a:off x="8595360" y="4361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9806940" y="3749040"/>
            <a:ext cx="0" cy="173736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1988820" y="5486400"/>
            <a:ext cx="781812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1988820" y="3749954"/>
            <a:ext cx="0" cy="173736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33288" y="5102352"/>
            <a:ext cx="329184" cy="329184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1988820" y="5541264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feeds the next turn — the adaptive loop</a:t>
            </a:r>
            <a:endParaRPr lang="en-US" sz="1250" dirty="0"/>
          </a:p>
        </p:txBody>
      </p:sp>
      <p:sp>
        <p:nvSpPr>
          <p:cNvPr id="51" name="Text 38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2" name="Text 3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CORPUS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Promptfoo taxonomy to a graded, PyRIT-ready catalog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65376"/>
            <a:ext cx="438912" cy="438912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751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taxonomy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16152" y="2066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plugins scraped &amp; verified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97053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1568" y="16459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84448" y="1865376"/>
            <a:ext cx="438912" cy="438912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197510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14800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each row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114800" y="2066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seed · rubric · signals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97053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0216" y="16459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83096" y="1865376"/>
            <a:ext cx="438912" cy="438912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1975104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13448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PyRIT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7013448" y="2066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+ polarity adapter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1970532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98864" y="16459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381744" y="1865376"/>
            <a:ext cx="438912" cy="438912"/>
          </a:xfrm>
          <a:prstGeom prst="ellipse">
            <a:avLst/>
          </a:prstGeom>
          <a:solidFill>
            <a:srgbClr val="C6892E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1472" y="1975104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912096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9912096" y="2066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corpus for every run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502920" y="2743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— the enrichment columns that make a plugin runnable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502920" y="3127248"/>
            <a:ext cx="1691640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29" name="Text 20"/>
          <p:cNvSpPr/>
          <p:nvPr/>
        </p:nvSpPr>
        <p:spPr>
          <a:xfrm>
            <a:off x="594360" y="31272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2194560" y="3127248"/>
            <a:ext cx="566928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1" name="Text 22"/>
          <p:cNvSpPr/>
          <p:nvPr/>
        </p:nvSpPr>
        <p:spPr>
          <a:xfrm>
            <a:off x="2286000" y="3127248"/>
            <a:ext cx="42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2761488" y="3127248"/>
            <a:ext cx="4892040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3" name="Text 24"/>
          <p:cNvSpPr/>
          <p:nvPr/>
        </p:nvSpPr>
        <p:spPr>
          <a:xfrm>
            <a:off x="2852928" y="312724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seed (attacker terminal state)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7653528" y="3127248"/>
            <a:ext cx="1051560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5" name="Text 26"/>
          <p:cNvSpPr/>
          <p:nvPr/>
        </p:nvSpPr>
        <p:spPr>
          <a:xfrm>
            <a:off x="7744968" y="31272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8705088" y="3127248"/>
            <a:ext cx="2999232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7" name="Text 28"/>
          <p:cNvSpPr/>
          <p:nvPr/>
        </p:nvSpPr>
        <p:spPr>
          <a:xfrm>
            <a:off x="8796528" y="3127248"/>
            <a:ext cx="2862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 scorer / polarity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502920" y="3529584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594360" y="35295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bola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2194560" y="3529584"/>
            <a:ext cx="5669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2194560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2761488" y="3529584"/>
            <a:ext cx="4892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852928" y="35295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another principal's object across an authz boundary — evidenced by the tool call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7653528" y="3529584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7653528" y="352958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8705088" y="3529584"/>
            <a:ext cx="29992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8796528" y="352958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SelfAskTrueFalse → TrueFalseInverter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502920" y="4096512"/>
            <a:ext cx="169164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94360" y="409651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prompt-extraction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2194560" y="4096512"/>
            <a:ext cx="566928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219456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2761488" y="4096512"/>
            <a:ext cx="489204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2852928" y="40965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target disclose its actual system instructions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7653528" y="4096512"/>
            <a:ext cx="105156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7653528" y="40965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56" name="Shape 47"/>
          <p:cNvSpPr/>
          <p:nvPr/>
        </p:nvSpPr>
        <p:spPr>
          <a:xfrm>
            <a:off x="8705088" y="4096512"/>
            <a:ext cx="2999232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8796528" y="409651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 / SelfAsk on canary</a:t>
            </a:r>
            <a:endParaRPr lang="en-US" sz="950" dirty="0"/>
          </a:p>
        </p:txBody>
      </p:sp>
      <p:sp>
        <p:nvSpPr>
          <p:cNvPr id="58" name="Shape 49"/>
          <p:cNvSpPr/>
          <p:nvPr/>
        </p:nvSpPr>
        <p:spPr>
          <a:xfrm>
            <a:off x="502920" y="4663440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594360" y="4663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harmful:self-harm</a:t>
            </a:r>
            <a:endParaRPr lang="en-US" sz="1050" dirty="0"/>
          </a:p>
        </p:txBody>
      </p:sp>
      <p:sp>
        <p:nvSpPr>
          <p:cNvPr id="60" name="Shape 51"/>
          <p:cNvSpPr/>
          <p:nvPr/>
        </p:nvSpPr>
        <p:spPr>
          <a:xfrm>
            <a:off x="2194560" y="4663440"/>
            <a:ext cx="5669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219456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2761488" y="4663440"/>
            <a:ext cx="4892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2852928" y="46634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 operational, actionable real-world content (not fiction)</a:t>
            </a:r>
            <a:endParaRPr lang="en-US" sz="1100" dirty="0"/>
          </a:p>
        </p:txBody>
      </p:sp>
      <p:sp>
        <p:nvSpPr>
          <p:cNvPr id="64" name="Shape 55"/>
          <p:cNvSpPr/>
          <p:nvPr/>
        </p:nvSpPr>
        <p:spPr>
          <a:xfrm>
            <a:off x="7653528" y="4663440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5" name="Text 56"/>
          <p:cNvSpPr/>
          <p:nvPr/>
        </p:nvSpPr>
        <p:spPr>
          <a:xfrm>
            <a:off x="7653528" y="46634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66" name="Shape 57"/>
          <p:cNvSpPr/>
          <p:nvPr/>
        </p:nvSpPr>
        <p:spPr>
          <a:xfrm>
            <a:off x="8705088" y="4663440"/>
            <a:ext cx="29992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7" name="Text 58"/>
          <p:cNvSpPr/>
          <p:nvPr/>
        </p:nvSpPr>
        <p:spPr>
          <a:xfrm>
            <a:off x="8796528" y="466344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Refusal gate → Scale → threshold</a:t>
            </a:r>
            <a:endParaRPr lang="en-US" sz="950" dirty="0"/>
          </a:p>
        </p:txBody>
      </p:sp>
      <p:sp>
        <p:nvSpPr>
          <p:cNvPr id="68" name="Shape 59"/>
          <p:cNvSpPr/>
          <p:nvPr/>
        </p:nvSpPr>
        <p:spPr>
          <a:xfrm>
            <a:off x="502920" y="5230368"/>
            <a:ext cx="169164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9" name="Text 60"/>
          <p:cNvSpPr/>
          <p:nvPr/>
        </p:nvSpPr>
        <p:spPr>
          <a:xfrm>
            <a:off x="594360" y="5230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excessive-agency</a:t>
            </a:r>
            <a:endParaRPr lang="en-US" sz="1050" dirty="0"/>
          </a:p>
        </p:txBody>
      </p:sp>
      <p:sp>
        <p:nvSpPr>
          <p:cNvPr id="70" name="Shape 61"/>
          <p:cNvSpPr/>
          <p:nvPr/>
        </p:nvSpPr>
        <p:spPr>
          <a:xfrm>
            <a:off x="2194560" y="5230368"/>
            <a:ext cx="566928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71" name="Text 62"/>
          <p:cNvSpPr/>
          <p:nvPr/>
        </p:nvSpPr>
        <p:spPr>
          <a:xfrm>
            <a:off x="2194560" y="5230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72" name="Shape 63"/>
          <p:cNvSpPr/>
          <p:nvPr/>
        </p:nvSpPr>
        <p:spPr>
          <a:xfrm>
            <a:off x="2761488" y="5230368"/>
            <a:ext cx="489204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73" name="Text 64"/>
          <p:cNvSpPr/>
          <p:nvPr/>
        </p:nvSpPr>
        <p:spPr>
          <a:xfrm>
            <a:off x="2852928" y="5230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tool outside the caller's allowed set or past a cap</a:t>
            </a:r>
            <a:endParaRPr lang="en-US" sz="1100" dirty="0"/>
          </a:p>
        </p:txBody>
      </p:sp>
      <p:sp>
        <p:nvSpPr>
          <p:cNvPr id="74" name="Shape 65"/>
          <p:cNvSpPr/>
          <p:nvPr/>
        </p:nvSpPr>
        <p:spPr>
          <a:xfrm>
            <a:off x="7653528" y="5230368"/>
            <a:ext cx="105156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75" name="Text 66"/>
          <p:cNvSpPr/>
          <p:nvPr/>
        </p:nvSpPr>
        <p:spPr>
          <a:xfrm>
            <a:off x="7653528" y="52303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</p:txBody>
      </p:sp>
      <p:sp>
        <p:nvSpPr>
          <p:cNvPr id="76" name="Shape 67"/>
          <p:cNvSpPr/>
          <p:nvPr/>
        </p:nvSpPr>
        <p:spPr>
          <a:xfrm>
            <a:off x="8705088" y="5230368"/>
            <a:ext cx="2999232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77" name="Text 68"/>
          <p:cNvSpPr/>
          <p:nvPr/>
        </p:nvSpPr>
        <p:spPr>
          <a:xfrm>
            <a:off x="8796528" y="5230368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Trajectory / tool-invocation check</a:t>
            </a:r>
            <a:endParaRPr lang="en-US" sz="950" dirty="0"/>
          </a:p>
        </p:txBody>
      </p:sp>
      <p:sp>
        <p:nvSpPr>
          <p:cNvPr id="78" name="Shape 69"/>
          <p:cNvSpPr/>
          <p:nvPr/>
        </p:nvSpPr>
        <p:spPr>
          <a:xfrm>
            <a:off x="502920" y="5998464"/>
            <a:ext cx="11155680" cy="603504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16200000">
              <a:srgbClr val="9AA4B8">
                <a:alpha val="24000"/>
              </a:srgbClr>
            </a:outerShdw>
          </a:effectLst>
        </p:spPr>
      </p:sp>
      <p:pic>
        <p:nvPicPr>
          <p:cNvPr id="7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6153912"/>
            <a:ext cx="310896" cy="310896"/>
          </a:xfrm>
          <a:prstGeom prst="rect">
            <a:avLst/>
          </a:prstGeom>
        </p:spPr>
      </p:pic>
      <p:sp>
        <p:nvSpPr>
          <p:cNvPr id="80" name="Text 70"/>
          <p:cNvSpPr/>
          <p:nvPr/>
        </p:nvSpPr>
        <p:spPr>
          <a:xfrm>
            <a:off x="1234440" y="599846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consumption modes: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Text-layer graders read the prose (P1/P2); Trace-layer graders resolve tool calls &amp; ownership (P3/P4).  </a:t>
            </a:r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pass=safe is inverted to PyRIT true=violation.</a:t>
            </a:r>
            <a:endParaRPr lang="en-US" sz="1250" dirty="0"/>
          </a:p>
        </p:txBody>
      </p:sp>
      <p:sp>
        <p:nvSpPr>
          <p:cNvPr id="81" name="Text 71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2" name="Text 7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PyRIT strategies — one fork decides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794760" cy="484632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BUILDING BLOCKS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96312"/>
            <a:ext cx="457200" cy="457200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61061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target   </a:t>
            </a:r>
            <a:pPr indent="0" marL="0">
              <a:buNone/>
            </a:pPr>
            <a:r>
              <a:rPr lang="en-US" sz="1000" i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7340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under test — your gateway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209544"/>
            <a:ext cx="457200" cy="457200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323844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172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chat   </a:t>
            </a:r>
            <a:pPr indent="0" marL="0">
              <a:buNone/>
            </a:pPr>
            <a:r>
              <a:rPr lang="en-US" sz="10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only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7320" y="3447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LLM that writes the attacks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3922776"/>
            <a:ext cx="457200" cy="457200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037076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886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  </a:t>
            </a:r>
            <a:pPr indent="0" marL="0">
              <a:buNone/>
            </a:pPr>
            <a:r>
              <a:rPr lang="en-US" sz="10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41732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auto-judge: success? refusal?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" y="4636008"/>
            <a:ext cx="457200" cy="457200"/>
          </a:xfrm>
          <a:prstGeom prst="ellipse">
            <a:avLst/>
          </a:prstGeom>
          <a:solidFill>
            <a:srgbClr val="C6892E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75030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4599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  </a:t>
            </a:r>
            <a:pPr indent="0" marL="0">
              <a:buNone/>
            </a:pPr>
            <a:r>
              <a:rPr lang="en-US" sz="10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417320" y="4873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the prompt before send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77240" y="5367528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6E9E7"/>
          </a:solidFill>
          <a:ln w="12700">
            <a:solidFill>
              <a:srgbClr val="9E2B2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568696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5394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I need an attacker LLM?”  </a:t>
            </a:r>
            <a:pPr indent="0" marL="0">
              <a:buNone/>
            </a:pPr>
            <a:r>
              <a:rPr lang="en-US" sz="11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you must pass an adversarial config — the #1 reason a first script fails.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526280" y="1783080"/>
            <a:ext cx="2392680" cy="3063240"/>
          </a:xfrm>
          <a:prstGeom prst="roundRect">
            <a:avLst>
              <a:gd name="adj" fmla="val 343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4782312" y="200253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· STATIC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782312" y="227685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attacker LLM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782312" y="267919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PromptSending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782312" y="289864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— direct + converters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782312" y="318211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FlipAttack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782312" y="340156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surface string filters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782312" y="368503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ManyShot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782312" y="390448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safety decay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782312" y="418795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SkeletonKey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782312" y="440740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preamble baseline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147560" y="1783080"/>
            <a:ext cx="2392680" cy="3063240"/>
          </a:xfrm>
          <a:prstGeom prst="roundRect">
            <a:avLst>
              <a:gd name="adj" fmla="val 343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7403592" y="200253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· ADAPTIVE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403592" y="227685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 required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7403592" y="267919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ContextCompliance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403592" y="289864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fabricates prior turns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7403592" y="318211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RolePlay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7403592" y="340156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/ scenario reframe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7403592" y="4023360"/>
            <a:ext cx="1935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Framing-based refusal bypass — without paying for a full multi-turn loop.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9768840" y="1783080"/>
            <a:ext cx="2392680" cy="3063240"/>
          </a:xfrm>
          <a:prstGeom prst="roundRect">
            <a:avLst>
              <a:gd name="adj" fmla="val 3439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10024872" y="200253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· ADAPTIVE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10024872" y="227685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 required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10024872" y="267919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RedTeaming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10024872" y="289864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goal-directed loop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10024872" y="318211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Crescendo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10024872" y="340156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escalate + backtrack</a:t>
            </a:r>
            <a:endParaRPr lang="en-US" sz="950" dirty="0"/>
          </a:p>
        </p:txBody>
      </p:sp>
      <p:sp>
        <p:nvSpPr>
          <p:cNvPr id="51" name="Text 44"/>
          <p:cNvSpPr/>
          <p:nvPr/>
        </p:nvSpPr>
        <p:spPr>
          <a:xfrm>
            <a:off x="10024872" y="368503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10024872" y="390448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search, prune weak paths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10024872" y="418795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10024872" y="440740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iterative refinement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4526280" y="5029200"/>
            <a:ext cx="7635240" cy="155448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16200000">
              <a:srgbClr val="9AA4B8">
                <a:alpha val="24000"/>
              </a:srgbClr>
            </a:outerShdw>
          </a:effectLst>
        </p:spPr>
      </p:sp>
      <p:sp>
        <p:nvSpPr>
          <p:cNvPr id="56" name="Text 49"/>
          <p:cNvSpPr/>
          <p:nvPr/>
        </p:nvSpPr>
        <p:spPr>
          <a:xfrm>
            <a:off x="4800600" y="523036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POC USES THEM</a:t>
            </a:r>
            <a:endParaRPr lang="en-US" sz="1200" dirty="0"/>
          </a:p>
        </p:txBody>
      </p:sp>
      <p:sp>
        <p:nvSpPr>
          <p:cNvPr id="57" name="Text 50"/>
          <p:cNvSpPr/>
          <p:nvPr/>
        </p:nvSpPr>
        <p:spPr>
          <a:xfrm>
            <a:off x="4800600" y="553212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PromptSending + persuasion/encoding converters, best-of-n.   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Crescendo / RedTeaming / TAP driven by the Dolphin attacker LLM.</a:t>
            </a:r>
            <a:endParaRPr lang="en-US" sz="1250" dirty="0"/>
          </a:p>
        </p:txBody>
      </p:sp>
      <p:sp>
        <p:nvSpPr>
          <p:cNvPr id="58" name="Text 51"/>
          <p:cNvSpPr/>
          <p:nvPr/>
        </p:nvSpPr>
        <p:spPr>
          <a:xfrm>
            <a:off x="4800600" y="6016752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objects (0.14.x):  </a:t>
            </a:r>
            <a:pPr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AttackAdversarialConfig(target=…) · AttackScoringConfig(objective_scorer=…) · AttackConverterConfig(request_converters=[…])</a:t>
            </a:r>
            <a:endParaRPr lang="en-US" sz="1050" dirty="0"/>
          </a:p>
        </p:txBody>
      </p:sp>
      <p:sp>
        <p:nvSpPr>
          <p:cNvPr id="59" name="Text 52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0" name="Text 53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PROMPT-CRAFTING · OPTIONAL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Persuasion angles for single-turn, PyRIT-native for multi-turn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= HOW you ask (rhetoric, stored as metadata).   </a:t>
            </a:r>
            <a:pPr indent="0" marL="0">
              <a:buNone/>
            </a:pPr>
            <a:r>
              <a:rPr lang="en-US" sz="14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= WHAT counts as success (behavior-defined, rhetoric-free, gradeable).   Never blend the two.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69748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971800"/>
            <a:ext cx="566928" cy="566928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311353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— PAP angles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4480" y="3264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 et al., ACL 2024 · 40 techniques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36301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as rhetorical framing at craft time — the objective underneath stays identical.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4251960"/>
            <a:ext cx="146486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4251960"/>
            <a:ext cx="146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452421" y="4251960"/>
            <a:ext cx="146486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452421" y="4251960"/>
            <a:ext cx="146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Appeal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2960" y="4709160"/>
            <a:ext cx="180502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4709160"/>
            <a:ext cx="1805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Endorsement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2792578" y="4709160"/>
            <a:ext cx="103967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92578" y="4709160"/>
            <a:ext cx="10396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996842" y="4709160"/>
            <a:ext cx="129479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96842" y="4709160"/>
            <a:ext cx="1294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22960" y="516636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516636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Foot-in-the-door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2296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ethical angles default · </a:t>
            </a:r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unethical gated behind an explicit flag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172200" y="269748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92240" y="2971800"/>
            <a:ext cx="566928" cy="566928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3113532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223760" y="29900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— PyRIT native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7223760" y="32644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 improvises framing per turn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785616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85432" y="3721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Crescendo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escalates over benign turns, backtracks when resisted</a:t>
            </a:r>
            <a:endParaRPr lang="en-US" sz="12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288536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85432" y="4224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branches, explores, prunes weak paths</a:t>
            </a:r>
            <a:endParaRPr lang="en-US" sz="12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791456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85432" y="4727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RedTeaming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steers each turn toward the objective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6492240" y="4526280"/>
            <a:ext cx="4846320" cy="713232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720840" y="45262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static angle library needed — </a:t>
            </a:r>
            <a:pPr indent="0" marL="0">
              <a:buNone/>
            </a:pPr>
            <a:r>
              <a:rPr lang="en-US" sz="11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generates framing dynamically, so persuasion is emergent, not enumerated.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POC PROVES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Adaptive + trace-grounded = findings static probes can't reach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185416"/>
            <a:ext cx="640080" cy="640080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34543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behavior, not prose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5877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come from tool calls &amp; side effects in the trace — the agent-layer truth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7688" y="2185416"/>
            <a:ext cx="640080" cy="640080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708" y="234543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67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agentic failure classes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5877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authorization, tool misuse, goal hijack, multi-turn escalation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70332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5528" y="4014216"/>
            <a:ext cx="640080" cy="640080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417423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9959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taxonomy traceability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4165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maps Promptfoo → PyRIT scorer, reproducibly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70332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47688" y="4014216"/>
            <a:ext cx="640080" cy="640080"/>
          </a:xfrm>
          <a:prstGeom prst="ellipse">
            <a:avLst/>
          </a:prstGeom>
          <a:solidFill>
            <a:srgbClr val="C6892E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708" y="4174236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9959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Data-sovereign by design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44165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attacker, grader, corpus and traces stay in-house / air-gapped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02920" y="5669280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25400" dir="16200000">
              <a:srgbClr val="9AA4B8">
                <a:alpha val="2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22960" y="56692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same harness becomes a CI-integrated regression gate across any agent the bank deploys.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Red-Teaming for Agentic AI</dc:title>
  <dc:subject>PptxGenJS Presentation</dc:subject>
  <dc:creator>AI Security — DBS</dc:creator>
  <cp:lastModifiedBy>AI Security — DBS</cp:lastModifiedBy>
  <cp:revision>1</cp:revision>
  <dcterms:created xsi:type="dcterms:W3CDTF">2026-07-09T10:10:48Z</dcterms:created>
  <dcterms:modified xsi:type="dcterms:W3CDTF">2026-07-09T10:10:48Z</dcterms:modified>
</cp:coreProperties>
</file>