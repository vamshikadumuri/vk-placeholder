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target state for AI Red Teaming integrated with the Agent Marketplace. The footer strip lists the four delivery dependencies owned outside this scope: RTaaS stability, policy definitions and APS integration, Marketplace UI, and ALAN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Red Teaming  x  Agent Marketplace — Target State (Phase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65960" cy="3291840"/>
          </a:xfrm>
          <a:prstGeom prst="roundRect">
            <a:avLst>
              <a:gd name="adj" fmla="val 2326"/>
            </a:avLst>
          </a:prstGeom>
          <a:solidFill>
            <a:srgbClr val="F7F3ED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78992"/>
            <a:ext cx="18288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1248" y="108813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Marketplace (UI)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41248" y="129844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/ configure agent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21792" y="1572768"/>
            <a:ext cx="163677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1645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customer support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21792" y="2121408"/>
            <a:ext cx="163677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21992"/>
            <a:ext cx="164592" cy="1645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9264" y="22311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621792" y="2523744"/>
            <a:ext cx="163677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24328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69264" y="263347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621792" y="2926080"/>
            <a:ext cx="163677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26664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69264" y="30358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621792" y="3328416"/>
            <a:ext cx="163677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429000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69264" y="34381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850" dirty="0"/>
          </a:p>
        </p:txBody>
      </p:sp>
      <p:sp>
        <p:nvSpPr>
          <p:cNvPr id="22" name="Shape 14"/>
          <p:cNvSpPr/>
          <p:nvPr/>
        </p:nvSpPr>
        <p:spPr>
          <a:xfrm>
            <a:off x="621792" y="3730752"/>
            <a:ext cx="163677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831336"/>
            <a:ext cx="164592" cy="16459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69264" y="38404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/ framework</a:t>
            </a:r>
            <a:endParaRPr lang="en-US" sz="850" dirty="0"/>
          </a:p>
        </p:txBody>
      </p:sp>
      <p:sp>
        <p:nvSpPr>
          <p:cNvPr id="25" name="Shape 16"/>
          <p:cNvSpPr/>
          <p:nvPr/>
        </p:nvSpPr>
        <p:spPr>
          <a:xfrm>
            <a:off x="457200" y="4526280"/>
            <a:ext cx="118872" cy="118872"/>
          </a:xfrm>
          <a:prstGeom prst="rect">
            <a:avLst/>
          </a:prstGeom>
          <a:solidFill>
            <a:srgbClr val="FBF7F3"/>
          </a:solidFill>
          <a:ln w="12700">
            <a:solidFill>
              <a:srgbClr val="A8213A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640080" y="45171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scope — AI Red Teaming System</a:t>
            </a:r>
            <a:endParaRPr lang="en-US" sz="850" dirty="0"/>
          </a:p>
        </p:txBody>
      </p:sp>
      <p:sp>
        <p:nvSpPr>
          <p:cNvPr id="27" name="Shape 18"/>
          <p:cNvSpPr/>
          <p:nvPr/>
        </p:nvSpPr>
        <p:spPr>
          <a:xfrm>
            <a:off x="457200" y="4773168"/>
            <a:ext cx="118872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640080" y="476402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platform / owned by other teams</a:t>
            </a:r>
            <a:endParaRPr lang="en-US" sz="8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3472" y="960120"/>
            <a:ext cx="182880" cy="18288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2606040" y="1207008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F7F3ED"/>
          </a:solidFill>
          <a:ln w="9525">
            <a:solidFill>
              <a:srgbClr val="D8D4CC"/>
            </a:solidFill>
            <a:prstDash val="dash"/>
          </a:ln>
        </p:spPr>
      </p:sp>
      <p:sp>
        <p:nvSpPr>
          <p:cNvPr id="31" name="Text 21"/>
          <p:cNvSpPr txBox="1"/>
          <p:nvPr/>
        </p:nvSpPr>
        <p:spPr>
          <a:xfrm>
            <a:off x="2651760" y="13441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Policy Services</a:t>
            </a:r>
            <a:endParaRPr lang="en-US" sz="950" dirty="0"/>
          </a:p>
        </p:txBody>
      </p:sp>
      <p:sp>
        <p:nvSpPr>
          <p:cNvPr id="32" name="Shape 22"/>
          <p:cNvSpPr/>
          <p:nvPr/>
        </p:nvSpPr>
        <p:spPr>
          <a:xfrm>
            <a:off x="3401568" y="1700784"/>
            <a:ext cx="0" cy="256032"/>
          </a:xfrm>
          <a:prstGeom prst="line">
            <a:avLst/>
          </a:prstGeom>
          <a:noFill/>
          <a:ln w="12700">
            <a:solidFill>
              <a:srgbClr val="6E7079"/>
            </a:solidFill>
            <a:prstDash val="solid"/>
            <a:tailEnd type="triangle"/>
          </a:ln>
        </p:spPr>
      </p:sp>
      <p:sp>
        <p:nvSpPr>
          <p:cNvPr id="33" name="Shape 23"/>
          <p:cNvSpPr/>
          <p:nvPr/>
        </p:nvSpPr>
        <p:spPr>
          <a:xfrm>
            <a:off x="2606040" y="2011680"/>
            <a:ext cx="1600200" cy="1920240"/>
          </a:xfrm>
          <a:prstGeom prst="roundRect">
            <a:avLst>
              <a:gd name="adj" fmla="val 2857"/>
            </a:avLst>
          </a:prstGeom>
          <a:solidFill>
            <a:srgbClr val="F7F3ED"/>
          </a:solidFill>
          <a:ln w="9525">
            <a:solidFill>
              <a:srgbClr val="D8D4CC"/>
            </a:solidFill>
            <a:prstDash val="dash"/>
          </a:ln>
        </p:spPr>
      </p:sp>
      <p:sp>
        <p:nvSpPr>
          <p:cNvPr id="34" name="Text 24"/>
          <p:cNvSpPr txBox="1"/>
          <p:nvPr/>
        </p:nvSpPr>
        <p:spPr>
          <a:xfrm>
            <a:off x="2670048" y="21031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teaming configuration</a:t>
            </a:r>
            <a:endParaRPr lang="en-US" sz="950" dirty="0"/>
          </a:p>
        </p:txBody>
      </p:sp>
      <p:sp>
        <p:nvSpPr>
          <p:cNvPr id="35" name="Shape 25"/>
          <p:cNvSpPr/>
          <p:nvPr/>
        </p:nvSpPr>
        <p:spPr>
          <a:xfrm>
            <a:off x="2724912" y="2487168"/>
            <a:ext cx="136245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2816352" y="25786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teaming type</a:t>
            </a:r>
            <a:endParaRPr lang="en-US" sz="850" dirty="0"/>
          </a:p>
        </p:txBody>
      </p:sp>
      <p:sp>
        <p:nvSpPr>
          <p:cNvPr id="37" name="Shape 27"/>
          <p:cNvSpPr/>
          <p:nvPr/>
        </p:nvSpPr>
        <p:spPr>
          <a:xfrm>
            <a:off x="2825496" y="2816352"/>
            <a:ext cx="82296" cy="82296"/>
          </a:xfrm>
          <a:prstGeom prst="ellipse">
            <a:avLst/>
          </a:prstGeom>
          <a:solidFill>
            <a:srgbClr val="A8213A"/>
          </a:solidFill>
          <a:ln w="9525">
            <a:solidFill>
              <a:srgbClr val="A8213A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2953512" y="27889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probing (Garak)</a:t>
            </a:r>
            <a:endParaRPr lang="en-US" sz="800" dirty="0"/>
          </a:p>
        </p:txBody>
      </p:sp>
      <p:sp>
        <p:nvSpPr>
          <p:cNvPr id="39" name="Shape 29"/>
          <p:cNvSpPr/>
          <p:nvPr/>
        </p:nvSpPr>
        <p:spPr>
          <a:xfrm>
            <a:off x="2825496" y="3008376"/>
            <a:ext cx="82296" cy="82296"/>
          </a:xfrm>
          <a:prstGeom prst="ellipse">
            <a:avLst/>
          </a:prstGeom>
          <a:solidFill>
            <a:srgbClr val="F7F3ED"/>
          </a:solidFill>
          <a:ln w="9525">
            <a:solidFill>
              <a:srgbClr val="6E7079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2953512" y="298094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(Pyrit)</a:t>
            </a:r>
            <a:endParaRPr lang="en-US" sz="800" dirty="0"/>
          </a:p>
        </p:txBody>
      </p:sp>
      <p:sp>
        <p:nvSpPr>
          <p:cNvPr id="41" name="Shape 31"/>
          <p:cNvSpPr/>
          <p:nvPr/>
        </p:nvSpPr>
        <p:spPr>
          <a:xfrm>
            <a:off x="2724912" y="3364992"/>
            <a:ext cx="136245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2816352" y="34290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selection</a:t>
            </a:r>
            <a:endParaRPr lang="en-US" sz="850" dirty="0"/>
          </a:p>
        </p:txBody>
      </p:sp>
      <p:sp>
        <p:nvSpPr>
          <p:cNvPr id="43" name="Text 33"/>
          <p:cNvSpPr txBox="1"/>
          <p:nvPr/>
        </p:nvSpPr>
        <p:spPr>
          <a:xfrm>
            <a:off x="2816352" y="360273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mapped probe suite</a:t>
            </a:r>
            <a:endParaRPr lang="en-US" sz="750" dirty="0"/>
          </a:p>
        </p:txBody>
      </p:sp>
      <p:sp>
        <p:nvSpPr>
          <p:cNvPr id="44" name="Text 34"/>
          <p:cNvSpPr txBox="1"/>
          <p:nvPr/>
        </p:nvSpPr>
        <p:spPr>
          <a:xfrm>
            <a:off x="4206240" y="2651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red teaming</a:t>
            </a:r>
            <a:endParaRPr lang="en-US" sz="750" dirty="0"/>
          </a:p>
        </p:txBody>
      </p:sp>
      <p:sp>
        <p:nvSpPr>
          <p:cNvPr id="45" name="Shape 35"/>
          <p:cNvSpPr/>
          <p:nvPr/>
        </p:nvSpPr>
        <p:spPr>
          <a:xfrm>
            <a:off x="4224528" y="2889504"/>
            <a:ext cx="786384" cy="0"/>
          </a:xfrm>
          <a:prstGeom prst="line">
            <a:avLst/>
          </a:prstGeom>
          <a:noFill/>
          <a:ln w="12700">
            <a:solidFill>
              <a:srgbClr val="6E7079"/>
            </a:solidFill>
            <a:prstDash val="solid"/>
            <a:tailEnd type="triangle"/>
          </a:ln>
        </p:spPr>
      </p:sp>
      <p:sp>
        <p:nvSpPr>
          <p:cNvPr id="46" name="Shape 36"/>
          <p:cNvSpPr/>
          <p:nvPr/>
        </p:nvSpPr>
        <p:spPr>
          <a:xfrm>
            <a:off x="5074920" y="960120"/>
            <a:ext cx="3840480" cy="3657600"/>
          </a:xfrm>
          <a:prstGeom prst="roundRect">
            <a:avLst>
              <a:gd name="adj" fmla="val 1250"/>
            </a:avLst>
          </a:prstGeom>
          <a:solidFill>
            <a:srgbClr val="FBF7F3"/>
          </a:solidFill>
          <a:ln w="15875">
            <a:solidFill>
              <a:srgbClr val="A8213A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6440" y="1060704"/>
            <a:ext cx="201168" cy="201168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6053328" y="1069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Red Teaming System</a:t>
            </a:r>
            <a:endParaRPr lang="en-US" sz="1200" dirty="0"/>
          </a:p>
        </p:txBody>
      </p:sp>
      <p:sp>
        <p:nvSpPr>
          <p:cNvPr id="49" name="Shape 38"/>
          <p:cNvSpPr/>
          <p:nvPr/>
        </p:nvSpPr>
        <p:spPr>
          <a:xfrm>
            <a:off x="5230368" y="1444752"/>
            <a:ext cx="16642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9240" y="1572768"/>
            <a:ext cx="182880" cy="182880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5596128" y="16002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teaming API</a:t>
            </a:r>
            <a:endParaRPr lang="en-US" sz="900" dirty="0"/>
          </a:p>
        </p:txBody>
      </p:sp>
      <p:sp>
        <p:nvSpPr>
          <p:cNvPr id="52" name="Shape 40"/>
          <p:cNvSpPr/>
          <p:nvPr/>
        </p:nvSpPr>
        <p:spPr>
          <a:xfrm>
            <a:off x="7114032" y="1444752"/>
            <a:ext cx="16642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2904" y="1572768"/>
            <a:ext cx="182880" cy="182880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7479792" y="16002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catalog DB</a:t>
            </a:r>
            <a:endParaRPr lang="en-US" sz="900" dirty="0"/>
          </a:p>
        </p:txBody>
      </p:sp>
      <p:sp>
        <p:nvSpPr>
          <p:cNvPr id="55" name="Shape 42"/>
          <p:cNvSpPr/>
          <p:nvPr/>
        </p:nvSpPr>
        <p:spPr>
          <a:xfrm>
            <a:off x="6912864" y="1682496"/>
            <a:ext cx="182880" cy="0"/>
          </a:xfrm>
          <a:prstGeom prst="line">
            <a:avLst/>
          </a:prstGeom>
          <a:noFill/>
          <a:ln w="12700">
            <a:solidFill>
              <a:srgbClr val="A8213A"/>
            </a:solidFill>
            <a:prstDash val="solid"/>
            <a:tailEnd type="triangle"/>
          </a:ln>
        </p:spPr>
      </p:sp>
      <p:sp>
        <p:nvSpPr>
          <p:cNvPr id="56" name="Shape 43"/>
          <p:cNvSpPr/>
          <p:nvPr/>
        </p:nvSpPr>
        <p:spPr>
          <a:xfrm>
            <a:off x="6062472" y="1956816"/>
            <a:ext cx="0" cy="219456"/>
          </a:xfrm>
          <a:prstGeom prst="line">
            <a:avLst/>
          </a:prstGeom>
          <a:noFill/>
          <a:ln w="12700">
            <a:solidFill>
              <a:srgbClr val="A8213A"/>
            </a:solidFill>
            <a:prstDash val="solid"/>
            <a:tailEnd type="triangle"/>
          </a:ln>
        </p:spPr>
      </p:sp>
      <p:sp>
        <p:nvSpPr>
          <p:cNvPr id="57" name="Shape 44"/>
          <p:cNvSpPr/>
          <p:nvPr/>
        </p:nvSpPr>
        <p:spPr>
          <a:xfrm>
            <a:off x="5230368" y="2194560"/>
            <a:ext cx="16642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9240" y="2322576"/>
            <a:ext cx="182880" cy="182880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5596128" y="23500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orchestrator</a:t>
            </a:r>
            <a:endParaRPr lang="en-US" sz="900" dirty="0"/>
          </a:p>
        </p:txBody>
      </p:sp>
      <p:sp>
        <p:nvSpPr>
          <p:cNvPr id="60" name="Shape 46"/>
          <p:cNvSpPr/>
          <p:nvPr/>
        </p:nvSpPr>
        <p:spPr>
          <a:xfrm>
            <a:off x="7114032" y="2194560"/>
            <a:ext cx="16642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6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2904" y="2322576"/>
            <a:ext cx="182880" cy="182880"/>
          </a:xfrm>
          <a:prstGeom prst="rect">
            <a:avLst/>
          </a:prstGeom>
        </p:spPr>
      </p:pic>
      <p:sp>
        <p:nvSpPr>
          <p:cNvPr id="62" name="Text 47"/>
          <p:cNvSpPr txBox="1"/>
          <p:nvPr/>
        </p:nvSpPr>
        <p:spPr>
          <a:xfrm>
            <a:off x="7479792" y="23500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metadata store</a:t>
            </a:r>
            <a:endParaRPr lang="en-US" sz="900" dirty="0"/>
          </a:p>
        </p:txBody>
      </p:sp>
      <p:sp>
        <p:nvSpPr>
          <p:cNvPr id="63" name="Shape 48"/>
          <p:cNvSpPr/>
          <p:nvPr/>
        </p:nvSpPr>
        <p:spPr>
          <a:xfrm>
            <a:off x="6912864" y="2432304"/>
            <a:ext cx="182880" cy="0"/>
          </a:xfrm>
          <a:prstGeom prst="line">
            <a:avLst/>
          </a:prstGeom>
          <a:noFill/>
          <a:ln w="12700">
            <a:solidFill>
              <a:srgbClr val="A8213A"/>
            </a:solidFill>
            <a:prstDash val="solid"/>
            <a:tailEnd type="triangle"/>
          </a:ln>
        </p:spPr>
      </p:sp>
      <p:sp>
        <p:nvSpPr>
          <p:cNvPr id="64" name="Shape 49"/>
          <p:cNvSpPr/>
          <p:nvPr/>
        </p:nvSpPr>
        <p:spPr>
          <a:xfrm>
            <a:off x="6062472" y="2688336"/>
            <a:ext cx="0" cy="256032"/>
          </a:xfrm>
          <a:prstGeom prst="line">
            <a:avLst/>
          </a:prstGeom>
          <a:noFill/>
          <a:ln w="12700">
            <a:solidFill>
              <a:srgbClr val="A8213A"/>
            </a:solidFill>
            <a:prstDash val="solid"/>
            <a:tailEnd type="triangle"/>
          </a:ln>
        </p:spPr>
      </p:sp>
      <p:sp>
        <p:nvSpPr>
          <p:cNvPr id="65" name="Shape 50"/>
          <p:cNvSpPr/>
          <p:nvPr/>
        </p:nvSpPr>
        <p:spPr>
          <a:xfrm>
            <a:off x="5230368" y="2962656"/>
            <a:ext cx="3547872" cy="868680"/>
          </a:xfrm>
          <a:prstGeom prst="roundRect">
            <a:avLst>
              <a:gd name="adj" fmla="val 5263"/>
            </a:avLst>
          </a:prstGeom>
          <a:solidFill>
            <a:srgbClr val="F7F3ED"/>
          </a:solidFill>
          <a:ln w="9525">
            <a:solidFill>
              <a:srgbClr val="D8D4CC"/>
            </a:solidFill>
            <a:prstDash val="dash"/>
          </a:ln>
        </p:spPr>
      </p:sp>
      <p:pic>
        <p:nvPicPr>
          <p:cNvPr id="6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49240" y="3035808"/>
            <a:ext cx="164592" cy="164592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5568696" y="3044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teaming execution engines (async)</a:t>
            </a:r>
            <a:endParaRPr lang="en-US" sz="850" dirty="0"/>
          </a:p>
        </p:txBody>
      </p:sp>
      <p:sp>
        <p:nvSpPr>
          <p:cNvPr id="68" name="Shape 52"/>
          <p:cNvSpPr/>
          <p:nvPr/>
        </p:nvSpPr>
        <p:spPr>
          <a:xfrm>
            <a:off x="5349240" y="3291840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A8213A"/>
            </a:solidFill>
            <a:prstDash val="solid"/>
          </a:ln>
        </p:spPr>
      </p:sp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49824" y="3392424"/>
            <a:ext cx="164592" cy="164592"/>
          </a:xfrm>
          <a:prstGeom prst="rect">
            <a:avLst/>
          </a:prstGeom>
        </p:spPr>
      </p:pic>
      <p:sp>
        <p:nvSpPr>
          <p:cNvPr id="70" name="Text 53"/>
          <p:cNvSpPr txBox="1"/>
          <p:nvPr/>
        </p:nvSpPr>
        <p:spPr>
          <a:xfrm>
            <a:off x="5669280" y="34198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probing (Garak)</a:t>
            </a:r>
            <a:endParaRPr lang="en-US" sz="800" dirty="0"/>
          </a:p>
        </p:txBody>
      </p:sp>
      <p:sp>
        <p:nvSpPr>
          <p:cNvPr id="71" name="Shape 54"/>
          <p:cNvSpPr/>
          <p:nvPr/>
        </p:nvSpPr>
        <p:spPr>
          <a:xfrm>
            <a:off x="6885432" y="3383280"/>
            <a:ext cx="256032" cy="237744"/>
          </a:xfrm>
          <a:prstGeom prst="ellipse">
            <a:avLst/>
          </a:prstGeom>
          <a:solidFill>
            <a:srgbClr val="F7F3ED"/>
          </a:solidFill>
          <a:ln w="9525">
            <a:solidFill>
              <a:srgbClr val="6E7079"/>
            </a:solidFill>
            <a:prstDash val="solid"/>
          </a:ln>
        </p:spPr>
      </p:sp>
      <p:sp>
        <p:nvSpPr>
          <p:cNvPr id="72" name="Text 55"/>
          <p:cNvSpPr txBox="1"/>
          <p:nvPr/>
        </p:nvSpPr>
        <p:spPr>
          <a:xfrm>
            <a:off x="6885432" y="343814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700" dirty="0"/>
          </a:p>
        </p:txBody>
      </p:sp>
      <p:sp>
        <p:nvSpPr>
          <p:cNvPr id="73" name="Shape 56"/>
          <p:cNvSpPr/>
          <p:nvPr/>
        </p:nvSpPr>
        <p:spPr>
          <a:xfrm>
            <a:off x="7214616" y="3291840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F7F3ED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7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5200" y="3392424"/>
            <a:ext cx="164592" cy="164592"/>
          </a:xfrm>
          <a:prstGeom prst="rect">
            <a:avLst/>
          </a:prstGeom>
        </p:spPr>
      </p:pic>
      <p:sp>
        <p:nvSpPr>
          <p:cNvPr id="75" name="Text 57"/>
          <p:cNvSpPr txBox="1"/>
          <p:nvPr/>
        </p:nvSpPr>
        <p:spPr>
          <a:xfrm>
            <a:off x="7534656" y="34198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(phase 2)</a:t>
            </a:r>
            <a:endParaRPr lang="en-US" sz="800" dirty="0"/>
          </a:p>
        </p:txBody>
      </p:sp>
      <p:sp>
        <p:nvSpPr>
          <p:cNvPr id="76" name="Shape 58"/>
          <p:cNvSpPr/>
          <p:nvPr/>
        </p:nvSpPr>
        <p:spPr>
          <a:xfrm>
            <a:off x="6080760" y="3712464"/>
            <a:ext cx="0" cy="219456"/>
          </a:xfrm>
          <a:prstGeom prst="line">
            <a:avLst/>
          </a:prstGeom>
          <a:noFill/>
          <a:ln w="12700">
            <a:solidFill>
              <a:srgbClr val="A8213A"/>
            </a:solidFill>
            <a:prstDash val="solid"/>
            <a:tailEnd type="triangle"/>
          </a:ln>
        </p:spPr>
      </p:sp>
      <p:sp>
        <p:nvSpPr>
          <p:cNvPr id="77" name="Shape 59"/>
          <p:cNvSpPr/>
          <p:nvPr/>
        </p:nvSpPr>
        <p:spPr>
          <a:xfrm>
            <a:off x="5230368" y="3950208"/>
            <a:ext cx="16642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7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49240" y="4078224"/>
            <a:ext cx="182880" cy="182880"/>
          </a:xfrm>
          <a:prstGeom prst="rect">
            <a:avLst/>
          </a:prstGeom>
        </p:spPr>
      </p:pic>
      <p:sp>
        <p:nvSpPr>
          <p:cNvPr id="79" name="Text 60"/>
          <p:cNvSpPr txBox="1"/>
          <p:nvPr/>
        </p:nvSpPr>
        <p:spPr>
          <a:xfrm>
            <a:off x="5596128" y="410565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artifacts</a:t>
            </a:r>
            <a:endParaRPr lang="en-US" sz="900" dirty="0"/>
          </a:p>
        </p:txBody>
      </p:sp>
      <p:sp>
        <p:nvSpPr>
          <p:cNvPr id="80" name="Shape 61"/>
          <p:cNvSpPr/>
          <p:nvPr/>
        </p:nvSpPr>
        <p:spPr>
          <a:xfrm>
            <a:off x="7114032" y="3950208"/>
            <a:ext cx="16642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8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32904" y="4078224"/>
            <a:ext cx="182880" cy="182880"/>
          </a:xfrm>
          <a:prstGeom prst="rect">
            <a:avLst/>
          </a:prstGeom>
        </p:spPr>
      </p:pic>
      <p:sp>
        <p:nvSpPr>
          <p:cNvPr id="82" name="Text 62"/>
          <p:cNvSpPr txBox="1"/>
          <p:nvPr/>
        </p:nvSpPr>
        <p:spPr>
          <a:xfrm>
            <a:off x="7479792" y="410565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storage (S3)</a:t>
            </a:r>
            <a:endParaRPr lang="en-US" sz="900" dirty="0"/>
          </a:p>
        </p:txBody>
      </p:sp>
      <p:sp>
        <p:nvSpPr>
          <p:cNvPr id="83" name="Shape 63"/>
          <p:cNvSpPr/>
          <p:nvPr/>
        </p:nvSpPr>
        <p:spPr>
          <a:xfrm>
            <a:off x="6912864" y="4187952"/>
            <a:ext cx="182880" cy="0"/>
          </a:xfrm>
          <a:prstGeom prst="line">
            <a:avLst/>
          </a:prstGeom>
          <a:noFill/>
          <a:ln w="12700">
            <a:solidFill>
              <a:srgbClr val="A8213A"/>
            </a:solidFill>
            <a:prstDash val="solid"/>
            <a:tailEnd type="triangle"/>
          </a:ln>
        </p:spPr>
      </p:sp>
      <p:sp>
        <p:nvSpPr>
          <p:cNvPr id="84" name="Shape 64"/>
          <p:cNvSpPr/>
          <p:nvPr/>
        </p:nvSpPr>
        <p:spPr>
          <a:xfrm>
            <a:off x="6035040" y="4617720"/>
            <a:ext cx="0" cy="274320"/>
          </a:xfrm>
          <a:prstGeom prst="line">
            <a:avLst/>
          </a:prstGeom>
          <a:noFill/>
          <a:ln w="12700">
            <a:solidFill>
              <a:srgbClr val="6E7079"/>
            </a:solidFill>
            <a:prstDash val="solid"/>
            <a:tailEnd type="triangle"/>
          </a:ln>
        </p:spPr>
      </p:sp>
      <p:sp>
        <p:nvSpPr>
          <p:cNvPr id="85" name="Shape 65"/>
          <p:cNvSpPr/>
          <p:nvPr/>
        </p:nvSpPr>
        <p:spPr>
          <a:xfrm>
            <a:off x="5074920" y="4892040"/>
            <a:ext cx="3840480" cy="777240"/>
          </a:xfrm>
          <a:prstGeom prst="roundRect">
            <a:avLst>
              <a:gd name="adj" fmla="val 5882"/>
            </a:avLst>
          </a:prstGeom>
          <a:solidFill>
            <a:srgbClr val="F7F3ED"/>
          </a:solidFill>
          <a:ln w="9525">
            <a:solidFill>
              <a:srgbClr val="D8D4CC"/>
            </a:solidFill>
            <a:prstDash val="dash"/>
          </a:ln>
        </p:spPr>
      </p:sp>
      <p:sp>
        <p:nvSpPr>
          <p:cNvPr id="86" name="Text 66"/>
          <p:cNvSpPr txBox="1"/>
          <p:nvPr/>
        </p:nvSpPr>
        <p:spPr>
          <a:xfrm>
            <a:off x="5166360" y="49560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under test</a:t>
            </a:r>
            <a:endParaRPr lang="en-US" sz="850" dirty="0"/>
          </a:p>
        </p:txBody>
      </p:sp>
      <p:sp>
        <p:nvSpPr>
          <p:cNvPr id="87" name="Shape 67"/>
          <p:cNvSpPr/>
          <p:nvPr/>
        </p:nvSpPr>
        <p:spPr>
          <a:xfrm>
            <a:off x="5230368" y="5148072"/>
            <a:ext cx="166420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8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49240" y="5230368"/>
            <a:ext cx="182880" cy="182880"/>
          </a:xfrm>
          <a:prstGeom prst="rect">
            <a:avLst/>
          </a:prstGeom>
        </p:spPr>
      </p:pic>
      <p:sp>
        <p:nvSpPr>
          <p:cNvPr id="89" name="Text 68"/>
          <p:cNvSpPr txBox="1"/>
          <p:nvPr/>
        </p:nvSpPr>
        <p:spPr>
          <a:xfrm>
            <a:off x="5596128" y="52578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agent / API</a:t>
            </a:r>
            <a:endParaRPr lang="en-US" sz="850" dirty="0"/>
          </a:p>
        </p:txBody>
      </p:sp>
      <p:sp>
        <p:nvSpPr>
          <p:cNvPr id="90" name="Shape 69"/>
          <p:cNvSpPr/>
          <p:nvPr/>
        </p:nvSpPr>
        <p:spPr>
          <a:xfrm>
            <a:off x="7114032" y="5148072"/>
            <a:ext cx="166420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9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32904" y="5230368"/>
            <a:ext cx="182880" cy="182880"/>
          </a:xfrm>
          <a:prstGeom prst="rect">
            <a:avLst/>
          </a:prstGeom>
        </p:spPr>
      </p:pic>
      <p:sp>
        <p:nvSpPr>
          <p:cNvPr id="92" name="Text 70"/>
          <p:cNvSpPr txBox="1"/>
          <p:nvPr/>
        </p:nvSpPr>
        <p:spPr>
          <a:xfrm>
            <a:off x="7479792" y="5257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/ LLM providers</a:t>
            </a:r>
            <a:endParaRPr lang="en-US" sz="850" dirty="0"/>
          </a:p>
        </p:txBody>
      </p:sp>
      <p:sp>
        <p:nvSpPr>
          <p:cNvPr id="93" name="Shape 71"/>
          <p:cNvSpPr/>
          <p:nvPr/>
        </p:nvSpPr>
        <p:spPr>
          <a:xfrm>
            <a:off x="6912864" y="5349240"/>
            <a:ext cx="182880" cy="0"/>
          </a:xfrm>
          <a:prstGeom prst="line">
            <a:avLst/>
          </a:prstGeom>
          <a:noFill/>
          <a:ln w="12700">
            <a:solidFill>
              <a:srgbClr val="6E7079"/>
            </a:solidFill>
            <a:prstDash val="solid"/>
            <a:tailEnd type="triangle"/>
          </a:ln>
        </p:spPr>
      </p:sp>
      <p:sp>
        <p:nvSpPr>
          <p:cNvPr id="94" name="Shape 72"/>
          <p:cNvSpPr/>
          <p:nvPr/>
        </p:nvSpPr>
        <p:spPr>
          <a:xfrm>
            <a:off x="8933688" y="2468880"/>
            <a:ext cx="256032" cy="0"/>
          </a:xfrm>
          <a:prstGeom prst="line">
            <a:avLst/>
          </a:prstGeom>
          <a:noFill/>
          <a:ln w="12700">
            <a:solidFill>
              <a:srgbClr val="A8213A"/>
            </a:solidFill>
            <a:prstDash val="solid"/>
            <a:tailEnd type="triangle"/>
          </a:ln>
        </p:spPr>
      </p:sp>
      <p:sp>
        <p:nvSpPr>
          <p:cNvPr id="95" name="Shape 73"/>
          <p:cNvSpPr/>
          <p:nvPr/>
        </p:nvSpPr>
        <p:spPr>
          <a:xfrm>
            <a:off x="9235440" y="960120"/>
            <a:ext cx="2496312" cy="914400"/>
          </a:xfrm>
          <a:prstGeom prst="roundRect">
            <a:avLst>
              <a:gd name="adj" fmla="val 5000"/>
            </a:avLst>
          </a:prstGeom>
          <a:solidFill>
            <a:srgbClr val="F7F3ED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9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45168" y="1051560"/>
            <a:ext cx="182880" cy="182880"/>
          </a:xfrm>
          <a:prstGeom prst="rect">
            <a:avLst/>
          </a:prstGeom>
        </p:spPr>
      </p:pic>
      <p:sp>
        <p:nvSpPr>
          <p:cNvPr id="97" name="Text 74"/>
          <p:cNvSpPr txBox="1"/>
          <p:nvPr/>
        </p:nvSpPr>
        <p:spPr>
          <a:xfrm>
            <a:off x="9582912" y="10607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&amp; progress updates</a:t>
            </a:r>
            <a:endParaRPr lang="en-US" sz="950" dirty="0"/>
          </a:p>
        </p:txBody>
      </p:sp>
      <p:pic>
        <p:nvPicPr>
          <p:cNvPr id="9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63456" y="1353312"/>
            <a:ext cx="201168" cy="201168"/>
          </a:xfrm>
          <a:prstGeom prst="rect">
            <a:avLst/>
          </a:prstGeom>
        </p:spPr>
      </p:pic>
      <p:sp>
        <p:nvSpPr>
          <p:cNvPr id="99" name="Text 75"/>
          <p:cNvSpPr txBox="1"/>
          <p:nvPr/>
        </p:nvSpPr>
        <p:spPr>
          <a:xfrm>
            <a:off x="9619488" y="13716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runs async</a:t>
            </a:r>
            <a:endParaRPr lang="en-US" sz="800" dirty="0"/>
          </a:p>
        </p:txBody>
      </p:sp>
      <p:sp>
        <p:nvSpPr>
          <p:cNvPr id="100" name="Text 76"/>
          <p:cNvSpPr txBox="1"/>
          <p:nvPr/>
        </p:nvSpPr>
        <p:spPr>
          <a:xfrm>
            <a:off x="9363456" y="160934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 · Running · Completed · Failed</a:t>
            </a:r>
            <a:endParaRPr lang="en-US" sz="750" dirty="0"/>
          </a:p>
        </p:txBody>
      </p:sp>
      <p:sp>
        <p:nvSpPr>
          <p:cNvPr id="101" name="Shape 77"/>
          <p:cNvSpPr/>
          <p:nvPr/>
        </p:nvSpPr>
        <p:spPr>
          <a:xfrm>
            <a:off x="9235440" y="2011680"/>
            <a:ext cx="2496312" cy="3063240"/>
          </a:xfrm>
          <a:prstGeom prst="roundRect">
            <a:avLst>
              <a:gd name="adj" fmla="val 1832"/>
            </a:avLst>
          </a:prstGeom>
          <a:solidFill>
            <a:srgbClr val="F7F3ED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10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45168" y="2103120"/>
            <a:ext cx="182880" cy="182880"/>
          </a:xfrm>
          <a:prstGeom prst="rect">
            <a:avLst/>
          </a:prstGeom>
        </p:spPr>
      </p:pic>
      <p:sp>
        <p:nvSpPr>
          <p:cNvPr id="103" name="Text 78"/>
          <p:cNvSpPr txBox="1"/>
          <p:nvPr/>
        </p:nvSpPr>
        <p:spPr>
          <a:xfrm>
            <a:off x="9582912" y="21122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in marketplace (UI)</a:t>
            </a:r>
            <a:endParaRPr lang="en-US" sz="950" dirty="0"/>
          </a:p>
        </p:txBody>
      </p:sp>
      <p:sp>
        <p:nvSpPr>
          <p:cNvPr id="104" name="Text 79"/>
          <p:cNvSpPr txBox="1"/>
          <p:nvPr/>
        </p:nvSpPr>
        <p:spPr>
          <a:xfrm>
            <a:off x="9363456" y="235915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summary</a:t>
            </a:r>
            <a:endParaRPr lang="en-US" sz="800" dirty="0"/>
          </a:p>
        </p:txBody>
      </p:sp>
      <p:sp>
        <p:nvSpPr>
          <p:cNvPr id="105" name="Shape 80"/>
          <p:cNvSpPr/>
          <p:nvPr/>
        </p:nvSpPr>
        <p:spPr>
          <a:xfrm>
            <a:off x="9363456" y="2542032"/>
            <a:ext cx="731520" cy="438912"/>
          </a:xfrm>
          <a:prstGeom prst="roundRect">
            <a:avLst>
              <a:gd name="adj" fmla="val 10417"/>
            </a:avLst>
          </a:prstGeom>
          <a:solidFill>
            <a:srgbClr val="FBF7F3"/>
          </a:solidFill>
          <a:ln w="9525">
            <a:solidFill>
              <a:srgbClr val="E3CFD3"/>
            </a:solidFill>
            <a:prstDash val="solid"/>
          </a:ln>
        </p:spPr>
      </p:sp>
      <p:sp>
        <p:nvSpPr>
          <p:cNvPr id="106" name="Text 81"/>
          <p:cNvSpPr txBox="1"/>
          <p:nvPr/>
        </p:nvSpPr>
        <p:spPr>
          <a:xfrm>
            <a:off x="9363456" y="25877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200" dirty="0"/>
          </a:p>
        </p:txBody>
      </p:sp>
      <p:sp>
        <p:nvSpPr>
          <p:cNvPr id="107" name="Text 82"/>
          <p:cNvSpPr txBox="1"/>
          <p:nvPr/>
        </p:nvSpPr>
        <p:spPr>
          <a:xfrm>
            <a:off x="9363456" y="278892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700" dirty="0"/>
          </a:p>
        </p:txBody>
      </p:sp>
      <p:sp>
        <p:nvSpPr>
          <p:cNvPr id="108" name="Shape 83"/>
          <p:cNvSpPr/>
          <p:nvPr/>
        </p:nvSpPr>
        <p:spPr>
          <a:xfrm>
            <a:off x="10158984" y="2542032"/>
            <a:ext cx="731520" cy="438912"/>
          </a:xfrm>
          <a:prstGeom prst="roundRect">
            <a:avLst>
              <a:gd name="adj" fmla="val 10417"/>
            </a:avLst>
          </a:prstGeom>
          <a:solidFill>
            <a:srgbClr val="FBF7F3"/>
          </a:solidFill>
          <a:ln w="9525">
            <a:solidFill>
              <a:srgbClr val="E3CFD3"/>
            </a:solidFill>
            <a:prstDash val="solid"/>
          </a:ln>
        </p:spPr>
      </p:sp>
      <p:sp>
        <p:nvSpPr>
          <p:cNvPr id="109" name="Text 84"/>
          <p:cNvSpPr txBox="1"/>
          <p:nvPr/>
        </p:nvSpPr>
        <p:spPr>
          <a:xfrm>
            <a:off x="10158984" y="25877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110" name="Text 85"/>
          <p:cNvSpPr txBox="1"/>
          <p:nvPr/>
        </p:nvSpPr>
        <p:spPr>
          <a:xfrm>
            <a:off x="10158984" y="278892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700" dirty="0"/>
          </a:p>
        </p:txBody>
      </p:sp>
      <p:sp>
        <p:nvSpPr>
          <p:cNvPr id="111" name="Shape 86"/>
          <p:cNvSpPr/>
          <p:nvPr/>
        </p:nvSpPr>
        <p:spPr>
          <a:xfrm>
            <a:off x="10954512" y="2542032"/>
            <a:ext cx="731520" cy="438912"/>
          </a:xfrm>
          <a:prstGeom prst="roundRect">
            <a:avLst>
              <a:gd name="adj" fmla="val 10417"/>
            </a:avLst>
          </a:prstGeom>
          <a:solidFill>
            <a:srgbClr val="FBF7F3"/>
          </a:solidFill>
          <a:ln w="9525">
            <a:solidFill>
              <a:srgbClr val="E3CFD3"/>
            </a:solidFill>
            <a:prstDash val="solid"/>
          </a:ln>
        </p:spPr>
      </p:sp>
      <p:sp>
        <p:nvSpPr>
          <p:cNvPr id="112" name="Text 87"/>
          <p:cNvSpPr txBox="1"/>
          <p:nvPr/>
        </p:nvSpPr>
        <p:spPr>
          <a:xfrm>
            <a:off x="10954512" y="25877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3" name="Text 88"/>
          <p:cNvSpPr txBox="1"/>
          <p:nvPr/>
        </p:nvSpPr>
        <p:spPr>
          <a:xfrm>
            <a:off x="10954512" y="278892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114" name="Text 89"/>
          <p:cNvSpPr txBox="1"/>
          <p:nvPr/>
        </p:nvSpPr>
        <p:spPr>
          <a:xfrm>
            <a:off x="9363456" y="310896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 categories</a:t>
            </a:r>
            <a:endParaRPr lang="en-US" sz="800" dirty="0"/>
          </a:p>
        </p:txBody>
      </p:sp>
      <p:sp>
        <p:nvSpPr>
          <p:cNvPr id="115" name="Text 90"/>
          <p:cNvSpPr txBox="1"/>
          <p:nvPr/>
        </p:nvSpPr>
        <p:spPr>
          <a:xfrm>
            <a:off x="9363456" y="329184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750" dirty="0"/>
          </a:p>
        </p:txBody>
      </p:sp>
      <p:sp>
        <p:nvSpPr>
          <p:cNvPr id="116" name="Shape 91"/>
          <p:cNvSpPr/>
          <p:nvPr/>
        </p:nvSpPr>
        <p:spPr>
          <a:xfrm>
            <a:off x="10378440" y="3319272"/>
            <a:ext cx="960120" cy="91440"/>
          </a:xfrm>
          <a:prstGeom prst="rect">
            <a:avLst/>
          </a:prstGeom>
          <a:solidFill>
            <a:srgbClr val="A8213A"/>
          </a:solidFill>
          <a:ln w="3175">
            <a:solidFill>
              <a:srgbClr val="A8213A"/>
            </a:solidFill>
            <a:prstDash val="solid"/>
          </a:ln>
        </p:spPr>
      </p:sp>
      <p:sp>
        <p:nvSpPr>
          <p:cNvPr id="117" name="Text 92"/>
          <p:cNvSpPr txBox="1"/>
          <p:nvPr/>
        </p:nvSpPr>
        <p:spPr>
          <a:xfrm>
            <a:off x="11384280" y="32918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  <p:sp>
        <p:nvSpPr>
          <p:cNvPr id="118" name="Text 93"/>
          <p:cNvSpPr txBox="1"/>
          <p:nvPr/>
        </p:nvSpPr>
        <p:spPr>
          <a:xfrm>
            <a:off x="9363456" y="349300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</a:t>
            </a:r>
            <a:endParaRPr lang="en-US" sz="750" dirty="0"/>
          </a:p>
        </p:txBody>
      </p:sp>
      <p:sp>
        <p:nvSpPr>
          <p:cNvPr id="119" name="Shape 94"/>
          <p:cNvSpPr/>
          <p:nvPr/>
        </p:nvSpPr>
        <p:spPr>
          <a:xfrm>
            <a:off x="10378440" y="3520440"/>
            <a:ext cx="411480" cy="91440"/>
          </a:xfrm>
          <a:prstGeom prst="rect">
            <a:avLst/>
          </a:prstGeom>
          <a:solidFill>
            <a:srgbClr val="A8213A"/>
          </a:solidFill>
          <a:ln w="3175">
            <a:solidFill>
              <a:srgbClr val="A8213A"/>
            </a:solidFill>
            <a:prstDash val="solid"/>
          </a:ln>
        </p:spPr>
      </p:sp>
      <p:sp>
        <p:nvSpPr>
          <p:cNvPr id="120" name="Text 95"/>
          <p:cNvSpPr txBox="1"/>
          <p:nvPr/>
        </p:nvSpPr>
        <p:spPr>
          <a:xfrm>
            <a:off x="10835640" y="349300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21" name="Text 96"/>
          <p:cNvSpPr txBox="1"/>
          <p:nvPr/>
        </p:nvSpPr>
        <p:spPr>
          <a:xfrm>
            <a:off x="9363456" y="36941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</a:t>
            </a:r>
            <a:endParaRPr lang="en-US" sz="750" dirty="0"/>
          </a:p>
        </p:txBody>
      </p:sp>
      <p:sp>
        <p:nvSpPr>
          <p:cNvPr id="122" name="Shape 97"/>
          <p:cNvSpPr/>
          <p:nvPr/>
        </p:nvSpPr>
        <p:spPr>
          <a:xfrm>
            <a:off x="10378440" y="3721608"/>
            <a:ext cx="274320" cy="91440"/>
          </a:xfrm>
          <a:prstGeom prst="rect">
            <a:avLst/>
          </a:prstGeom>
          <a:solidFill>
            <a:srgbClr val="A8213A"/>
          </a:solidFill>
          <a:ln w="3175">
            <a:solidFill>
              <a:srgbClr val="A8213A"/>
            </a:solidFill>
            <a:prstDash val="solid"/>
          </a:ln>
        </p:spPr>
      </p:sp>
      <p:sp>
        <p:nvSpPr>
          <p:cNvPr id="123" name="Text 98"/>
          <p:cNvSpPr txBox="1"/>
          <p:nvPr/>
        </p:nvSpPr>
        <p:spPr>
          <a:xfrm>
            <a:off x="10698480" y="369417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24" name="Text 99"/>
          <p:cNvSpPr txBox="1"/>
          <p:nvPr/>
        </p:nvSpPr>
        <p:spPr>
          <a:xfrm>
            <a:off x="9363456" y="39319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actions</a:t>
            </a:r>
            <a:endParaRPr lang="en-US" sz="800" dirty="0"/>
          </a:p>
        </p:txBody>
      </p:sp>
      <p:sp>
        <p:nvSpPr>
          <p:cNvPr id="125" name="Shape 100"/>
          <p:cNvSpPr/>
          <p:nvPr/>
        </p:nvSpPr>
        <p:spPr>
          <a:xfrm>
            <a:off x="9363456" y="4096512"/>
            <a:ext cx="1133856" cy="274320"/>
          </a:xfrm>
          <a:prstGeom prst="roundRect">
            <a:avLst>
              <a:gd name="adj" fmla="val 16667"/>
            </a:avLst>
          </a:prstGeom>
          <a:solidFill>
            <a:srgbClr val="FBF7F3"/>
          </a:solidFill>
          <a:ln w="9525">
            <a:solidFill>
              <a:srgbClr val="E3CFD3"/>
            </a:solidFill>
            <a:prstDash val="solid"/>
          </a:ln>
        </p:spPr>
      </p:sp>
      <p:pic>
        <p:nvPicPr>
          <p:cNvPr id="12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27464" y="4160520"/>
            <a:ext cx="146304" cy="146304"/>
          </a:xfrm>
          <a:prstGeom prst="rect">
            <a:avLst/>
          </a:prstGeom>
        </p:spPr>
      </p:pic>
      <p:sp>
        <p:nvSpPr>
          <p:cNvPr id="127" name="Text 101"/>
          <p:cNvSpPr txBox="1"/>
          <p:nvPr/>
        </p:nvSpPr>
        <p:spPr>
          <a:xfrm>
            <a:off x="9610344" y="4169664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report</a:t>
            </a:r>
            <a:endParaRPr lang="en-US" sz="750" dirty="0"/>
          </a:p>
        </p:txBody>
      </p:sp>
      <p:sp>
        <p:nvSpPr>
          <p:cNvPr id="128" name="Shape 102"/>
          <p:cNvSpPr/>
          <p:nvPr/>
        </p:nvSpPr>
        <p:spPr>
          <a:xfrm>
            <a:off x="10561320" y="4096512"/>
            <a:ext cx="1133856" cy="274320"/>
          </a:xfrm>
          <a:prstGeom prst="roundRect">
            <a:avLst>
              <a:gd name="adj" fmla="val 16667"/>
            </a:avLst>
          </a:prstGeom>
          <a:solidFill>
            <a:srgbClr val="FBF7F3"/>
          </a:solidFill>
          <a:ln w="9525">
            <a:solidFill>
              <a:srgbClr val="E3CFD3"/>
            </a:solidFill>
            <a:prstDash val="solid"/>
          </a:ln>
        </p:spPr>
      </p:sp>
      <p:pic>
        <p:nvPicPr>
          <p:cNvPr id="12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25328" y="4160520"/>
            <a:ext cx="146304" cy="146304"/>
          </a:xfrm>
          <a:prstGeom prst="rect">
            <a:avLst/>
          </a:prstGeom>
        </p:spPr>
      </p:pic>
      <p:sp>
        <p:nvSpPr>
          <p:cNvPr id="130" name="Text 103"/>
          <p:cNvSpPr txBox="1"/>
          <p:nvPr/>
        </p:nvSpPr>
        <p:spPr>
          <a:xfrm>
            <a:off x="10808208" y="4169664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report</a:t>
            </a:r>
            <a:endParaRPr lang="en-US" sz="750" dirty="0"/>
          </a:p>
        </p:txBody>
      </p:sp>
      <p:sp>
        <p:nvSpPr>
          <p:cNvPr id="131" name="Shape 104"/>
          <p:cNvSpPr/>
          <p:nvPr/>
        </p:nvSpPr>
        <p:spPr>
          <a:xfrm>
            <a:off x="9363456" y="4407408"/>
            <a:ext cx="1133856" cy="274320"/>
          </a:xfrm>
          <a:prstGeom prst="roundRect">
            <a:avLst>
              <a:gd name="adj" fmla="val 16667"/>
            </a:avLst>
          </a:prstGeom>
          <a:solidFill>
            <a:srgbClr val="FBF7F3"/>
          </a:solidFill>
          <a:ln w="9525">
            <a:solidFill>
              <a:srgbClr val="E3CFD3"/>
            </a:solidFill>
            <a:prstDash val="solid"/>
          </a:ln>
        </p:spPr>
      </p:sp>
      <p:pic>
        <p:nvPicPr>
          <p:cNvPr id="13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27464" y="4471416"/>
            <a:ext cx="146304" cy="146304"/>
          </a:xfrm>
          <a:prstGeom prst="rect">
            <a:avLst/>
          </a:prstGeom>
        </p:spPr>
      </p:pic>
      <p:sp>
        <p:nvSpPr>
          <p:cNvPr id="133" name="Text 105"/>
          <p:cNvSpPr txBox="1"/>
          <p:nvPr/>
        </p:nvSpPr>
        <p:spPr>
          <a:xfrm>
            <a:off x="9610344" y="4480560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750" dirty="0"/>
          </a:p>
        </p:txBody>
      </p:sp>
      <p:sp>
        <p:nvSpPr>
          <p:cNvPr id="134" name="Shape 106"/>
          <p:cNvSpPr/>
          <p:nvPr/>
        </p:nvSpPr>
        <p:spPr>
          <a:xfrm>
            <a:off x="10561320" y="4407408"/>
            <a:ext cx="1133856" cy="274320"/>
          </a:xfrm>
          <a:prstGeom prst="roundRect">
            <a:avLst>
              <a:gd name="adj" fmla="val 16667"/>
            </a:avLst>
          </a:prstGeom>
          <a:solidFill>
            <a:srgbClr val="FBF7F3"/>
          </a:solidFill>
          <a:ln w="9525">
            <a:solidFill>
              <a:srgbClr val="E3CFD3"/>
            </a:solidFill>
            <a:prstDash val="solid"/>
          </a:ln>
        </p:spPr>
      </p:sp>
      <p:pic>
        <p:nvPicPr>
          <p:cNvPr id="135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25328" y="4471416"/>
            <a:ext cx="146304" cy="146304"/>
          </a:xfrm>
          <a:prstGeom prst="rect">
            <a:avLst/>
          </a:prstGeom>
        </p:spPr>
      </p:pic>
      <p:sp>
        <p:nvSpPr>
          <p:cNvPr id="136" name="Text 107"/>
          <p:cNvSpPr txBox="1"/>
          <p:nvPr/>
        </p:nvSpPr>
        <p:spPr>
          <a:xfrm>
            <a:off x="10808208" y="4480560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findings</a:t>
            </a:r>
            <a:endParaRPr lang="en-US" sz="750" dirty="0"/>
          </a:p>
        </p:txBody>
      </p:sp>
      <p:sp>
        <p:nvSpPr>
          <p:cNvPr id="137" name="Shape 108"/>
          <p:cNvSpPr/>
          <p:nvPr/>
        </p:nvSpPr>
        <p:spPr>
          <a:xfrm>
            <a:off x="9363456" y="4718304"/>
            <a:ext cx="1133856" cy="274320"/>
          </a:xfrm>
          <a:prstGeom prst="roundRect">
            <a:avLst>
              <a:gd name="adj" fmla="val 16667"/>
            </a:avLst>
          </a:prstGeom>
          <a:solidFill>
            <a:srgbClr val="FBF7F3"/>
          </a:solidFill>
          <a:ln w="9525">
            <a:solidFill>
              <a:srgbClr val="E3CFD3"/>
            </a:solidFill>
            <a:prstDash val="solid"/>
          </a:ln>
        </p:spPr>
      </p:sp>
      <p:pic>
        <p:nvPicPr>
          <p:cNvPr id="138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427464" y="4782312"/>
            <a:ext cx="146304" cy="146304"/>
          </a:xfrm>
          <a:prstGeom prst="rect">
            <a:avLst/>
          </a:prstGeom>
        </p:spPr>
      </p:pic>
      <p:sp>
        <p:nvSpPr>
          <p:cNvPr id="139" name="Text 109"/>
          <p:cNvSpPr txBox="1"/>
          <p:nvPr/>
        </p:nvSpPr>
        <p:spPr>
          <a:xfrm>
            <a:off x="9610344" y="4791456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</a:t>
            </a:r>
            <a:endParaRPr lang="en-US" sz="750" dirty="0"/>
          </a:p>
        </p:txBody>
      </p:sp>
      <p:sp>
        <p:nvSpPr>
          <p:cNvPr id="140" name="Shape 110"/>
          <p:cNvSpPr/>
          <p:nvPr/>
        </p:nvSpPr>
        <p:spPr>
          <a:xfrm>
            <a:off x="10561320" y="4718304"/>
            <a:ext cx="1133856" cy="274320"/>
          </a:xfrm>
          <a:prstGeom prst="roundRect">
            <a:avLst>
              <a:gd name="adj" fmla="val 16667"/>
            </a:avLst>
          </a:prstGeom>
          <a:solidFill>
            <a:srgbClr val="FBF7F3"/>
          </a:solidFill>
          <a:ln w="9525">
            <a:solidFill>
              <a:srgbClr val="E3CFD3"/>
            </a:solidFill>
            <a:prstDash val="solid"/>
          </a:ln>
        </p:spPr>
      </p:sp>
      <p:pic>
        <p:nvPicPr>
          <p:cNvPr id="14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625328" y="4782312"/>
            <a:ext cx="146304" cy="146304"/>
          </a:xfrm>
          <a:prstGeom prst="rect">
            <a:avLst/>
          </a:prstGeom>
        </p:spPr>
      </p:pic>
      <p:sp>
        <p:nvSpPr>
          <p:cNvPr id="142" name="Text 111"/>
          <p:cNvSpPr txBox="1"/>
          <p:nvPr/>
        </p:nvSpPr>
        <p:spPr>
          <a:xfrm>
            <a:off x="10808208" y="4791456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750" dirty="0"/>
          </a:p>
        </p:txBody>
      </p:sp>
      <p:sp>
        <p:nvSpPr>
          <p:cNvPr id="143" name="Text 112"/>
          <p:cNvSpPr txBox="1"/>
          <p:nvPr/>
        </p:nvSpPr>
        <p:spPr>
          <a:xfrm>
            <a:off x="9235440" y="5120640"/>
            <a:ext cx="2496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feed from marketplace</a:t>
            </a:r>
            <a:endParaRPr lang="en-US" sz="700" dirty="0"/>
          </a:p>
        </p:txBody>
      </p:sp>
      <p:sp>
        <p:nvSpPr>
          <p:cNvPr id="144" name="Shape 113"/>
          <p:cNvSpPr/>
          <p:nvPr/>
        </p:nvSpPr>
        <p:spPr>
          <a:xfrm>
            <a:off x="9235440" y="5266944"/>
            <a:ext cx="2496312" cy="493776"/>
          </a:xfrm>
          <a:prstGeom prst="roundRect">
            <a:avLst>
              <a:gd name="adj" fmla="val 9259"/>
            </a:avLst>
          </a:prstGeom>
          <a:solidFill>
            <a:srgbClr val="F7F3ED"/>
          </a:solidFill>
          <a:ln w="9525">
            <a:solidFill>
              <a:srgbClr val="D8D4CC"/>
            </a:solidFill>
            <a:prstDash val="solid"/>
          </a:ln>
        </p:spPr>
      </p:sp>
      <p:pic>
        <p:nvPicPr>
          <p:cNvPr id="14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345168" y="5340096"/>
            <a:ext cx="164592" cy="164592"/>
          </a:xfrm>
          <a:prstGeom prst="rect">
            <a:avLst/>
          </a:prstGeom>
        </p:spPr>
      </p:pic>
      <p:sp>
        <p:nvSpPr>
          <p:cNvPr id="146" name="Text 114"/>
          <p:cNvSpPr txBox="1"/>
          <p:nvPr/>
        </p:nvSpPr>
        <p:spPr>
          <a:xfrm>
            <a:off x="9564624" y="53492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— governance record</a:t>
            </a:r>
            <a:endParaRPr lang="en-US" sz="850" dirty="0"/>
          </a:p>
        </p:txBody>
      </p:sp>
      <p:sp>
        <p:nvSpPr>
          <p:cNvPr id="147" name="Text 115"/>
          <p:cNvSpPr txBox="1"/>
          <p:nvPr/>
        </p:nvSpPr>
        <p:spPr>
          <a:xfrm>
            <a:off x="9345168" y="5532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teaming attestation per agent version · run ID · pass/fail · report link</a:t>
            </a:r>
            <a:endParaRPr lang="en-US" sz="700" dirty="0"/>
          </a:p>
        </p:txBody>
      </p:sp>
      <p:sp>
        <p:nvSpPr>
          <p:cNvPr id="148" name="Shape 116"/>
          <p:cNvSpPr/>
          <p:nvPr/>
        </p:nvSpPr>
        <p:spPr>
          <a:xfrm>
            <a:off x="457200" y="5870448"/>
            <a:ext cx="11274552" cy="0"/>
          </a:xfrm>
          <a:prstGeom prst="line">
            <a:avLst/>
          </a:prstGeom>
          <a:noFill/>
          <a:ln w="12700">
            <a:solidFill>
              <a:srgbClr val="E3DCD2"/>
            </a:solidFill>
            <a:prstDash val="solid"/>
          </a:ln>
        </p:spPr>
      </p:sp>
      <p:pic>
        <p:nvPicPr>
          <p:cNvPr id="14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57200" y="5989320"/>
            <a:ext cx="182880" cy="182880"/>
          </a:xfrm>
          <a:prstGeom prst="rect">
            <a:avLst/>
          </a:prstGeom>
        </p:spPr>
      </p:pic>
      <p:sp>
        <p:nvSpPr>
          <p:cNvPr id="150" name="Text 117"/>
          <p:cNvSpPr txBox="1"/>
          <p:nvPr/>
        </p:nvSpPr>
        <p:spPr>
          <a:xfrm>
            <a:off x="713232" y="5998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delivery depends on</a:t>
            </a:r>
            <a:endParaRPr lang="en-US" sz="1100" dirty="0"/>
          </a:p>
        </p:txBody>
      </p:sp>
      <p:sp>
        <p:nvSpPr>
          <p:cNvPr id="151" name="Shape 118"/>
          <p:cNvSpPr/>
          <p:nvPr/>
        </p:nvSpPr>
        <p:spPr>
          <a:xfrm>
            <a:off x="457200" y="6281928"/>
            <a:ext cx="1481328" cy="329184"/>
          </a:xfrm>
          <a:prstGeom prst="roundRect">
            <a:avLst>
              <a:gd name="adj" fmla="val 13889"/>
            </a:avLst>
          </a:prstGeom>
          <a:solidFill>
            <a:srgbClr val="FBF7F3"/>
          </a:solidFill>
          <a:ln w="9525">
            <a:solidFill>
              <a:srgbClr val="E3CFD3"/>
            </a:solidFill>
            <a:prstDash val="solid"/>
          </a:ln>
        </p:spPr>
      </p:sp>
      <p:pic>
        <p:nvPicPr>
          <p:cNvPr id="15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8640" y="6364224"/>
            <a:ext cx="164592" cy="164592"/>
          </a:xfrm>
          <a:prstGeom prst="rect">
            <a:avLst/>
          </a:prstGeom>
        </p:spPr>
      </p:pic>
      <p:sp>
        <p:nvSpPr>
          <p:cNvPr id="153" name="Text 119"/>
          <p:cNvSpPr txBox="1"/>
          <p:nvPr/>
        </p:nvSpPr>
        <p:spPr>
          <a:xfrm>
            <a:off x="758952" y="6373368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 RTaaS</a:t>
            </a:r>
            <a:endParaRPr lang="en-US" sz="900" dirty="0"/>
          </a:p>
        </p:txBody>
      </p:sp>
      <p:sp>
        <p:nvSpPr>
          <p:cNvPr id="154" name="Shape 120"/>
          <p:cNvSpPr/>
          <p:nvPr/>
        </p:nvSpPr>
        <p:spPr>
          <a:xfrm>
            <a:off x="2048256" y="6281928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FBF7F3"/>
          </a:solidFill>
          <a:ln w="9525">
            <a:solidFill>
              <a:srgbClr val="E3CFD3"/>
            </a:solidFill>
            <a:prstDash val="solid"/>
          </a:ln>
        </p:spPr>
      </p:sp>
      <p:pic>
        <p:nvPicPr>
          <p:cNvPr id="155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139696" y="6364224"/>
            <a:ext cx="164592" cy="164592"/>
          </a:xfrm>
          <a:prstGeom prst="rect">
            <a:avLst/>
          </a:prstGeom>
        </p:spPr>
      </p:pic>
      <p:sp>
        <p:nvSpPr>
          <p:cNvPr id="156" name="Text 121"/>
          <p:cNvSpPr txBox="1"/>
          <p:nvPr/>
        </p:nvSpPr>
        <p:spPr>
          <a:xfrm>
            <a:off x="2350008" y="6373368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definitions + APS</a:t>
            </a:r>
            <a:endParaRPr lang="en-US" sz="900" dirty="0"/>
          </a:p>
        </p:txBody>
      </p:sp>
      <p:sp>
        <p:nvSpPr>
          <p:cNvPr id="157" name="Shape 122"/>
          <p:cNvSpPr/>
          <p:nvPr/>
        </p:nvSpPr>
        <p:spPr>
          <a:xfrm>
            <a:off x="4078224" y="6281928"/>
            <a:ext cx="1481328" cy="329184"/>
          </a:xfrm>
          <a:prstGeom prst="roundRect">
            <a:avLst>
              <a:gd name="adj" fmla="val 13889"/>
            </a:avLst>
          </a:prstGeom>
          <a:solidFill>
            <a:srgbClr val="FBF7F3"/>
          </a:solidFill>
          <a:ln w="9525">
            <a:solidFill>
              <a:srgbClr val="E3CFD3"/>
            </a:solidFill>
            <a:prstDash val="solid"/>
          </a:ln>
        </p:spPr>
      </p:sp>
      <p:pic>
        <p:nvPicPr>
          <p:cNvPr id="158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169664" y="6364224"/>
            <a:ext cx="164592" cy="164592"/>
          </a:xfrm>
          <a:prstGeom prst="rect">
            <a:avLst/>
          </a:prstGeom>
        </p:spPr>
      </p:pic>
      <p:sp>
        <p:nvSpPr>
          <p:cNvPr id="159" name="Text 123"/>
          <p:cNvSpPr txBox="1"/>
          <p:nvPr/>
        </p:nvSpPr>
        <p:spPr>
          <a:xfrm>
            <a:off x="4379976" y="6373368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UI</a:t>
            </a:r>
            <a:endParaRPr lang="en-US" sz="900" dirty="0"/>
          </a:p>
        </p:txBody>
      </p:sp>
      <p:sp>
        <p:nvSpPr>
          <p:cNvPr id="160" name="Shape 124"/>
          <p:cNvSpPr/>
          <p:nvPr/>
        </p:nvSpPr>
        <p:spPr>
          <a:xfrm>
            <a:off x="5669280" y="6281928"/>
            <a:ext cx="1572768" cy="329184"/>
          </a:xfrm>
          <a:prstGeom prst="roundRect">
            <a:avLst>
              <a:gd name="adj" fmla="val 13889"/>
            </a:avLst>
          </a:prstGeom>
          <a:solidFill>
            <a:srgbClr val="FBF7F3"/>
          </a:solidFill>
          <a:ln w="9525">
            <a:solidFill>
              <a:srgbClr val="E3CFD3"/>
            </a:solidFill>
            <a:prstDash val="solid"/>
          </a:ln>
        </p:spPr>
      </p:sp>
      <p:pic>
        <p:nvPicPr>
          <p:cNvPr id="161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60720" y="6364224"/>
            <a:ext cx="164592" cy="164592"/>
          </a:xfrm>
          <a:prstGeom prst="rect">
            <a:avLst/>
          </a:prstGeom>
        </p:spPr>
      </p:pic>
      <p:sp>
        <p:nvSpPr>
          <p:cNvPr id="162" name="Text 125"/>
          <p:cNvSpPr txBox="1"/>
          <p:nvPr/>
        </p:nvSpPr>
        <p:spPr>
          <a:xfrm>
            <a:off x="5971032" y="6373368"/>
            <a:ext cx="1207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integration</a:t>
            </a:r>
            <a:endParaRPr lang="en-US" sz="900" dirty="0"/>
          </a:p>
        </p:txBody>
      </p:sp>
      <p:sp>
        <p:nvSpPr>
          <p:cNvPr id="163" name="Shape 126"/>
          <p:cNvSpPr/>
          <p:nvPr/>
        </p:nvSpPr>
        <p:spPr>
          <a:xfrm>
            <a:off x="11018520" y="6281928"/>
            <a:ext cx="256032" cy="256032"/>
          </a:xfrm>
          <a:prstGeom prst="rect">
            <a:avLst/>
          </a:prstGeom>
          <a:solidFill>
            <a:srgbClr val="A8213A"/>
          </a:solidFill>
          <a:ln w="6350">
            <a:solidFill>
              <a:srgbClr val="A8213A"/>
            </a:solidFill>
            <a:prstDash val="solid"/>
          </a:ln>
        </p:spPr>
      </p:sp>
      <p:sp>
        <p:nvSpPr>
          <p:cNvPr id="164" name="Text 127"/>
          <p:cNvSpPr txBox="1"/>
          <p:nvPr/>
        </p:nvSpPr>
        <p:spPr>
          <a:xfrm>
            <a:off x="11018520" y="632764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65" name="Text 128"/>
          <p:cNvSpPr txBox="1"/>
          <p:nvPr/>
        </p:nvSpPr>
        <p:spPr>
          <a:xfrm>
            <a:off x="11320272" y="63093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2026-09-08T11:23:30Z</dcterms:created>
  <dcterms:modified xsi:type="dcterms:W3CDTF">2026-09-08T11:23:30Z</dcterms:modified>
</cp:coreProperties>
</file>