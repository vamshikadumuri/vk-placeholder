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· REAL INCIDENTS, REAL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agent moved money, another leaked data — both slipped past live guardrails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544068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29968"/>
            <a:ext cx="475488" cy="475488"/>
          </a:xfrm>
          <a:prstGeom prst="ellipse">
            <a:avLst/>
          </a:prstGeom>
          <a:solidFill>
            <a:srgbClr val="9E2B25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48840"/>
            <a:ext cx="237744" cy="2377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63040" y="2103120"/>
            <a:ext cx="1548994" cy="329184"/>
          </a:xfrm>
          <a:prstGeom prst="roundRect">
            <a:avLst>
              <a:gd name="adj" fmla="val 50000"/>
            </a:avLst>
          </a:prstGeom>
          <a:solidFill>
            <a:srgbClr val="F6E9E7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103120"/>
            <a:ext cx="15489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MOVED MONEY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3108960" y="21396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Freysa · Nov 2024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50392" y="2606040"/>
            <a:ext cx="20574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2B2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$47K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2944368" y="263347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spc="50" kern="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BY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spc="50" kern="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ITSELF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50392" y="3364992"/>
            <a:ext cx="4745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481 refusals → the 482nd message won · 195 players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0392" y="3675888"/>
            <a:ext cx="4745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rule: never transfer funds. The winning message faked an “admin” session and redefined its approveTransfer tool as an incoming payment — so Freysa sent out the whole pool.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72200" y="1737360"/>
            <a:ext cx="544068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19672" y="2029968"/>
            <a:ext cx="475488" cy="475488"/>
          </a:xfrm>
          <a:prstGeom prst="ellipse">
            <a:avLst/>
          </a:prstGeom>
          <a:solidFill>
            <a:srgbClr val="2A3550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544" y="2148840"/>
            <a:ext cx="237744" cy="23774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132320" y="2103120"/>
            <a:ext cx="1548994" cy="329184"/>
          </a:xfrm>
          <a:prstGeom prst="roundRect">
            <a:avLst>
              <a:gd name="adj" fmla="val 50000"/>
            </a:avLst>
          </a:prstGeom>
          <a:solidFill>
            <a:srgbClr val="EBEEF4"/>
          </a:solidFill>
          <a:ln/>
        </p:spPr>
      </p:sp>
      <p:sp>
        <p:nvSpPr>
          <p:cNvPr id="18" name="Text 14"/>
          <p:cNvSpPr/>
          <p:nvPr/>
        </p:nvSpPr>
        <p:spPr>
          <a:xfrm>
            <a:off x="7132320" y="2103120"/>
            <a:ext cx="15489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LEAKED DATA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778240" y="21396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CVE-2025-32711 · 2025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19672" y="2606040"/>
            <a:ext cx="141732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355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9.3</a:t>
            </a:r>
            <a:endParaRPr lang="en-US" sz="4000" dirty="0"/>
          </a:p>
        </p:txBody>
      </p:sp>
      <p:sp>
        <p:nvSpPr>
          <p:cNvPr id="21" name="Text 17"/>
          <p:cNvSpPr/>
          <p:nvPr/>
        </p:nvSpPr>
        <p:spPr>
          <a:xfrm>
            <a:off x="7973568" y="263347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spc="50" kern="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 — CRITICAL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spc="50" kern="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ZERO-CLICK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6519672" y="3364992"/>
            <a:ext cx="4745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click · bypassed 3 live guardrails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6519672" y="3675888"/>
            <a:ext cx="4745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Copilot. A single crafted email made it exfiltrate internal emails &amp; files — past XPIA injection filtering, link redaction and Content-Security-Policy.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02920" y="4645152"/>
            <a:ext cx="11155680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16200000">
              <a:srgbClr val="9AA4B8">
                <a:alpha val="24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86868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98%</a:t>
            </a:r>
            <a:endParaRPr lang="en-US" sz="3200" dirty="0"/>
          </a:p>
        </p:txBody>
      </p:sp>
      <p:sp>
        <p:nvSpPr>
          <p:cNvPr id="26" name="Text 22"/>
          <p:cNvSpPr/>
          <p:nvPr/>
        </p:nvSpPr>
        <p:spPr>
          <a:xfrm>
            <a:off x="868680" y="5394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Crescendo multi-turn beats single-turn defenses (Microsoft)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794760" y="4846320"/>
            <a:ext cx="0" cy="896112"/>
          </a:xfrm>
          <a:prstGeom prst="line">
            <a:avLst/>
          </a:prstGeom>
          <a:noFill/>
          <a:ln w="12700">
            <a:solidFill>
              <a:srgbClr val="D8DDE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023360" y="48280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355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&lt;10%</a:t>
            </a:r>
            <a:pPr indent="0" marL="0">
              <a:buNone/>
            </a:pPr>
            <a:r>
              <a:rPr lang="en-US" sz="1500" b="1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70%+</a:t>
            </a:r>
            <a:endParaRPr lang="en-US" sz="2800" dirty="0"/>
          </a:p>
        </p:txBody>
      </p:sp>
      <p:sp>
        <p:nvSpPr>
          <p:cNvPr id="29" name="Text 25"/>
          <p:cNvSpPr/>
          <p:nvPr/>
        </p:nvSpPr>
        <p:spPr>
          <a:xfrm>
            <a:off x="4023360" y="5394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 → multi-turn adaptive lift, same benchmark (Li et al.)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7269480" y="4846320"/>
            <a:ext cx="0" cy="896112"/>
          </a:xfrm>
          <a:prstGeom prst="line">
            <a:avLst/>
          </a:prstGeom>
          <a:noFill/>
          <a:ln w="12700">
            <a:solidFill>
              <a:srgbClr val="D8DDE7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4901184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882128" y="491947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7498080" y="52120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cleared their guardrails in isolation — adaptive, agentic attacks beat them anyway. That is why adaptive red-teaming is now table stakes.</a:t>
            </a:r>
            <a:endParaRPr lang="en-US" sz="1150" dirty="0"/>
          </a:p>
        </p:txBody>
      </p:sp>
      <p:sp>
        <p:nvSpPr>
          <p:cNvPr id="34" name="Text 29"/>
          <p:cNvSpPr/>
          <p:nvPr/>
        </p:nvSpPr>
        <p:spPr>
          <a:xfrm>
            <a:off x="502920" y="605332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Freysa (Nov 2024) · EchoLeak CVE-2025-32711 / Aim Security · Crescendo arXiv:2404.01833 · Li et al. 2024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113842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Red-Teaming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probes catch the known. Agents fail on the unknown.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25780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75688"/>
            <a:ext cx="640080" cy="640080"/>
          </a:xfrm>
          <a:prstGeom prst="ellipse">
            <a:avLst/>
          </a:prstGeom>
          <a:solidFill>
            <a:srgbClr val="2A3550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235708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09397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PROBE SCANS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600200" y="238658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Garak — fixed probe catalogs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4436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52728" y="2880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deterministic, repeatable  </a:t>
            </a:r>
            <a:pPr indent="0" marL="0">
              <a:buNone/>
            </a:pPr>
            <a:r>
              <a:rPr lang="en-US" sz="13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great CI regression baseline</a:t>
            </a:r>
            <a:endParaRPr lang="en-US" sz="13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1985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52728" y="33558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corpus, mostly single-turn  </a:t>
            </a:r>
            <a:pPr indent="0" marL="0">
              <a:buNone/>
            </a:pPr>
            <a:r>
              <a:rPr lang="en-US" sz="13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known jailbreaks &amp; string tricks</a:t>
            </a:r>
            <a:endParaRPr lang="en-US" sz="13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95344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52728" y="383133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the model's text output  </a:t>
            </a:r>
            <a:pPr indent="0" marL="0">
              <a:buNone/>
            </a:pPr>
            <a:r>
              <a:rPr lang="en-US" sz="13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model-layer, not agent-layer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822960" y="4398264"/>
            <a:ext cx="4617720" cy="1170432"/>
          </a:xfrm>
          <a:prstGeom prst="roundRect">
            <a:avLst>
              <a:gd name="adj" fmla="val 7031"/>
            </a:avLst>
          </a:prstGeom>
          <a:solidFill>
            <a:srgbClr val="F6E9E7"/>
          </a:solidFill>
          <a:ln w="12700">
            <a:solidFill>
              <a:srgbClr val="E7CBC8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1051560" y="4535424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spc="1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 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adaptation · no tool/trace visibility · misses multi-turn escalation &amp; authorization failures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355080" y="1783080"/>
            <a:ext cx="5257800" cy="3977640"/>
          </a:xfrm>
          <a:prstGeom prst="roundRect">
            <a:avLst>
              <a:gd name="adj" fmla="val 2069"/>
            </a:avLst>
          </a:prstGeom>
          <a:solidFill>
            <a:srgbClr val="F6E9E7"/>
          </a:solidFill>
          <a:ln w="15875">
            <a:solidFill>
              <a:srgbClr val="9E2B25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675120" y="2075688"/>
            <a:ext cx="640080" cy="640080"/>
          </a:xfrm>
          <a:prstGeom prst="ellipse">
            <a:avLst/>
          </a:prstGeom>
          <a:solidFill>
            <a:srgbClr val="9E2B25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140" y="2235708"/>
            <a:ext cx="320040" cy="32004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7452360" y="209397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RED-TEAMING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7452360" y="238658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LLM improvises against the target</a:t>
            </a:r>
            <a:endParaRPr lang="en-US" sz="125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2953512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104888" y="2880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Turn-by-turn improvisation  </a:t>
            </a:r>
            <a:pPr indent="0" marL="0">
              <a:buNone/>
            </a:pPr>
            <a:r>
              <a:rPr lang="en-US" sz="13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Crescendo · TAP · RedTeaming</a:t>
            </a:r>
            <a:endParaRPr lang="en-US" sz="13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3429000"/>
            <a:ext cx="237744" cy="237744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104888" y="33558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escalation + persuasion framing  </a:t>
            </a:r>
            <a:pPr indent="0" marL="0">
              <a:buNone/>
            </a:pPr>
            <a:r>
              <a:rPr lang="en-US" sz="13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gets past turn-1 refusals</a:t>
            </a:r>
            <a:endParaRPr lang="en-US" sz="13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3904488"/>
            <a:ext cx="237744" cy="237744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04888" y="383133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what the agent DOES  </a:t>
            </a:r>
            <a:pPr indent="0" marL="0">
              <a:buNone/>
            </a:pPr>
            <a:r>
              <a:rPr lang="en-US" sz="13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tool calls &amp; side effects, via trace</a:t>
            </a:r>
            <a:endParaRPr lang="en-US" sz="1350" dirty="0"/>
          </a:p>
        </p:txBody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379976"/>
            <a:ext cx="237744" cy="237744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7104888" y="43068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agentic failure classes  </a:t>
            </a:r>
            <a:pPr indent="0" marL="0">
              <a:buNone/>
            </a:pPr>
            <a:r>
              <a:rPr lang="en-US" sz="13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ASI authz, tool misuse, goal hijack</a:t>
            </a:r>
            <a:endParaRPr lang="en-US" sz="1350" dirty="0"/>
          </a:p>
        </p:txBody>
      </p:sp>
      <p:sp>
        <p:nvSpPr>
          <p:cNvPr id="30" name="Shape 19"/>
          <p:cNvSpPr/>
          <p:nvPr/>
        </p:nvSpPr>
        <p:spPr>
          <a:xfrm>
            <a:off x="502920" y="59436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2A3550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25400" dir="16200000">
              <a:srgbClr val="9AA4B8">
                <a:alpha val="24000"/>
              </a:srgbClr>
            </a:outerShdw>
          </a:effectLst>
        </p:spPr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6089904"/>
            <a:ext cx="365760" cy="36576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1280160" y="5943600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refusal to say it ≠ a refusal to do it.  </a:t>
            </a:r>
            <a:pPr indent="0" marL="0">
              <a:buNone/>
            </a:pPr>
            <a:r>
              <a:rPr lang="en-US" sz="1450" dirty="0">
                <a:solidFill>
                  <a:srgbClr val="C6C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risk lives in the tool calls and boundary crossings — not the prose a static probe reads.</a:t>
            </a:r>
            <a:endParaRPr lang="en-US" sz="1450" dirty="0"/>
          </a:p>
        </p:txBody>
      </p:sp>
      <p:sp>
        <p:nvSpPr>
          <p:cNvPr id="33" name="Text 21"/>
          <p:cNvSpPr/>
          <p:nvPr/>
        </p:nvSpPr>
        <p:spPr>
          <a:xfrm>
            <a:off x="113842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22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Red-Teaming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POC · 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the pieces fit — one adaptive run,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502920"/>
            <a:ext cx="2011680" cy="640080"/>
          </a:xfrm>
          <a:prstGeom prst="roundRect">
            <a:avLst>
              <a:gd name="adj" fmla="val 50000"/>
            </a:avLst>
          </a:prstGeom>
          <a:solidFill>
            <a:srgbClr val="9E2B25"/>
          </a:solidFill>
          <a:ln w="12700">
            <a:solidFill>
              <a:srgbClr val="9E2B25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2" y="649224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600200"/>
            <a:ext cx="11155680" cy="566928"/>
          </a:xfrm>
          <a:prstGeom prst="roundRect">
            <a:avLst>
              <a:gd name="adj" fmla="val 14516"/>
            </a:avLst>
          </a:prstGeom>
          <a:solidFill>
            <a:srgbClr val="F5F7FA"/>
          </a:solidFill>
          <a:ln w="12700">
            <a:solidFill>
              <a:srgbClr val="E4E8E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3736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16002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· CONFIG 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 ·  Attacker  ·  Grader  ·  Scope (plugins + PyRIT strategy + converter)  ·  App Profile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965960" y="2167128"/>
            <a:ext cx="0" cy="164592"/>
          </a:xfrm>
          <a:prstGeom prst="line">
            <a:avLst/>
          </a:prstGeom>
          <a:noFill/>
          <a:ln w="19050">
            <a:solidFill>
              <a:srgbClr val="8B95A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22960" y="2331720"/>
            <a:ext cx="23317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078992" y="2587752"/>
            <a:ext cx="566928" cy="566928"/>
          </a:xfrm>
          <a:prstGeom prst="ellipse">
            <a:avLst/>
          </a:prstGeom>
          <a:solidFill>
            <a:srgbClr val="2A3550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724" y="2729484"/>
            <a:ext cx="283464" cy="2834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32278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PyRIT Orchestrator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932688" y="3465576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AtomicAttack → Scenario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3429000" y="2331720"/>
            <a:ext cx="2331720" cy="1417320"/>
          </a:xfrm>
          <a:prstGeom prst="roundRect">
            <a:avLst>
              <a:gd name="adj" fmla="val 5806"/>
            </a:avLst>
          </a:prstGeom>
          <a:solidFill>
            <a:srgbClr val="F6E9E7"/>
          </a:solidFill>
          <a:ln w="15875">
            <a:solidFill>
              <a:srgbClr val="9E2B25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685032" y="2587752"/>
            <a:ext cx="566928" cy="566928"/>
          </a:xfrm>
          <a:prstGeom prst="ellipse">
            <a:avLst/>
          </a:prstGeom>
          <a:solidFill>
            <a:srgbClr val="9E2B25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6764" y="2729484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566160" y="32278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LLM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3538728" y="3465576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Dolphin 3.0 8B · vLLM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035040" y="2331720"/>
            <a:ext cx="23317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291072" y="2587752"/>
            <a:ext cx="566928" cy="566928"/>
          </a:xfrm>
          <a:prstGeom prst="ellipse">
            <a:avLst/>
          </a:prstGeom>
          <a:solidFill>
            <a:srgbClr val="2C8A86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804" y="2729484"/>
            <a:ext cx="283464" cy="28346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172200" y="32278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Agent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144768" y="3465576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banking demo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8641080" y="2331720"/>
            <a:ext cx="23317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8897112" y="2587752"/>
            <a:ext cx="566928" cy="566928"/>
          </a:xfrm>
          <a:prstGeom prst="ellipse">
            <a:avLst/>
          </a:prstGeom>
          <a:solidFill>
            <a:srgbClr val="C6892E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8844" y="2729484"/>
            <a:ext cx="283464" cy="28346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778240" y="32278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Grader LLM</a:t>
            </a:r>
            <a:endParaRPr lang="en-US" sz="1450" dirty="0"/>
          </a:p>
        </p:txBody>
      </p:sp>
      <p:sp>
        <p:nvSpPr>
          <p:cNvPr id="30" name="Text 22"/>
          <p:cNvSpPr/>
          <p:nvPr/>
        </p:nvSpPr>
        <p:spPr>
          <a:xfrm>
            <a:off x="8750808" y="3465576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4.5 · Stork gw</a:t>
            </a:r>
            <a:endParaRPr lang="en-US" sz="105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2968" y="2921508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2852928" y="258318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/ step</a:t>
            </a:r>
            <a:endParaRPr lang="en-US" sz="9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9008" y="2921508"/>
            <a:ext cx="237744" cy="23774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458968" y="258318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crafted prompt</a:t>
            </a:r>
            <a:endParaRPr lang="en-US" sz="950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5048" y="2921508"/>
            <a:ext cx="237744" cy="237744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8065008" y="258318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950" dirty="0"/>
          </a:p>
        </p:txBody>
      </p:sp>
      <p:sp>
        <p:nvSpPr>
          <p:cNvPr id="37" name="Shape 26"/>
          <p:cNvSpPr/>
          <p:nvPr/>
        </p:nvSpPr>
        <p:spPr>
          <a:xfrm>
            <a:off x="5852160" y="4251960"/>
            <a:ext cx="26974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38" name="Shape 27"/>
          <p:cNvSpPr/>
          <p:nvPr/>
        </p:nvSpPr>
        <p:spPr>
          <a:xfrm>
            <a:off x="6016752" y="4434840"/>
            <a:ext cx="475488" cy="475488"/>
          </a:xfrm>
          <a:prstGeom prst="ellipse">
            <a:avLst/>
          </a:prstGeom>
          <a:solidFill>
            <a:srgbClr val="6A5AA0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5624" y="4553712"/>
            <a:ext cx="237744" cy="237744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6537960" y="439826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Tracer</a:t>
            </a:r>
            <a:endParaRPr lang="en-US" sz="1350" dirty="0"/>
          </a:p>
        </p:txBody>
      </p:sp>
      <p:sp>
        <p:nvSpPr>
          <p:cNvPr id="41" name="Text 29"/>
          <p:cNvSpPr/>
          <p:nvPr/>
        </p:nvSpPr>
        <p:spPr>
          <a:xfrm>
            <a:off x="6537960" y="467258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gen_ai.* execution spans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7200900" y="3749040"/>
            <a:ext cx="0" cy="502920"/>
          </a:xfrm>
          <a:prstGeom prst="line">
            <a:avLst/>
          </a:prstGeom>
          <a:noFill/>
          <a:ln w="19050">
            <a:solidFill>
              <a:srgbClr val="8B95A7"/>
            </a:solidFill>
            <a:prstDash val="solid"/>
            <a:tailEnd type="triangle"/>
          </a:ln>
        </p:spPr>
      </p:sp>
      <p:sp>
        <p:nvSpPr>
          <p:cNvPr id="43" name="Text 31"/>
          <p:cNvSpPr/>
          <p:nvPr/>
        </p:nvSpPr>
        <p:spPr>
          <a:xfrm>
            <a:off x="7246620" y="37947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trace</a:t>
            </a:r>
            <a:endParaRPr lang="en-US" sz="950" dirty="0"/>
          </a:p>
        </p:txBody>
      </p:sp>
      <p:sp>
        <p:nvSpPr>
          <p:cNvPr id="44" name="Shape 32"/>
          <p:cNvSpPr/>
          <p:nvPr/>
        </p:nvSpPr>
        <p:spPr>
          <a:xfrm>
            <a:off x="8549640" y="4672584"/>
            <a:ext cx="960120" cy="0"/>
          </a:xfrm>
          <a:prstGeom prst="line">
            <a:avLst/>
          </a:prstGeom>
          <a:noFill/>
          <a:ln w="19050">
            <a:solidFill>
              <a:srgbClr val="9E2B25"/>
            </a:solidFill>
            <a:prstDash val="dash"/>
            <a:tailEnd type="triangle"/>
          </a:ln>
        </p:spPr>
      </p:sp>
      <p:sp>
        <p:nvSpPr>
          <p:cNvPr id="45" name="Text 33"/>
          <p:cNvSpPr/>
          <p:nvPr/>
        </p:nvSpPr>
        <p:spPr>
          <a:xfrm>
            <a:off x="8595360" y="43616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950" dirty="0"/>
          </a:p>
        </p:txBody>
      </p:sp>
      <p:sp>
        <p:nvSpPr>
          <p:cNvPr id="46" name="Shape 34"/>
          <p:cNvSpPr/>
          <p:nvPr/>
        </p:nvSpPr>
        <p:spPr>
          <a:xfrm>
            <a:off x="9806940" y="3749040"/>
            <a:ext cx="0" cy="173736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1988820" y="5486400"/>
            <a:ext cx="781812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48" name="Shape 36"/>
          <p:cNvSpPr/>
          <p:nvPr/>
        </p:nvSpPr>
        <p:spPr>
          <a:xfrm>
            <a:off x="1988820" y="3749954"/>
            <a:ext cx="0" cy="173736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pic>
        <p:nvPicPr>
          <p:cNvPr id="4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33288" y="5102352"/>
            <a:ext cx="329184" cy="329184"/>
          </a:xfrm>
          <a:prstGeom prst="rect">
            <a:avLst/>
          </a:prstGeom>
        </p:spPr>
      </p:pic>
      <p:sp>
        <p:nvSpPr>
          <p:cNvPr id="50" name="Text 37"/>
          <p:cNvSpPr/>
          <p:nvPr/>
        </p:nvSpPr>
        <p:spPr>
          <a:xfrm>
            <a:off x="1988820" y="5541264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feeds the next turn — the adaptive loop</a:t>
            </a:r>
            <a:endParaRPr lang="en-US" sz="1250" dirty="0"/>
          </a:p>
        </p:txBody>
      </p:sp>
      <p:sp>
        <p:nvSpPr>
          <p:cNvPr id="51" name="Text 38"/>
          <p:cNvSpPr/>
          <p:nvPr/>
        </p:nvSpPr>
        <p:spPr>
          <a:xfrm>
            <a:off x="113842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52" name="Text 3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Red-Teaming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CORPUS · WHY START 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pre-built attack corpus, already mapped to the frameworks governance trusts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F5F7FA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1143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E2B2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157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65960" y="18013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spc="50" kern="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spc="50" kern="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PLUGINS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upstream by Promptfoo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60520" y="1801368"/>
            <a:ext cx="0" cy="740664"/>
          </a:xfrm>
          <a:prstGeom prst="line">
            <a:avLst/>
          </a:prstGeom>
          <a:noFill/>
          <a:ln w="12700">
            <a:solidFill>
              <a:srgbClr val="D8DD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17830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MAPPED 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70832" y="2057400"/>
            <a:ext cx="182514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17136" y="2194560"/>
            <a:ext cx="91440" cy="9144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4681728" y="2057400"/>
            <a:ext cx="14593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97142" y="2057400"/>
            <a:ext cx="261152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43446" y="2194560"/>
            <a:ext cx="91440" cy="9144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708038" y="2057400"/>
            <a:ext cx="22457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Agentic Top 10 (ASI)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209837" y="2057400"/>
            <a:ext cx="143195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56141" y="2194560"/>
            <a:ext cx="91440" cy="9144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20733" y="2057400"/>
            <a:ext cx="1066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70832" y="247802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enrich each plugin into a gradeable, PyRIT-ready row  →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926080"/>
            <a:ext cx="1737360" cy="402336"/>
          </a:xfrm>
          <a:prstGeom prst="rect">
            <a:avLst/>
          </a:prstGeom>
          <a:solidFill>
            <a:srgbClr val="2A3550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" y="292608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240280" y="2926080"/>
            <a:ext cx="4069080" cy="402336"/>
          </a:xfrm>
          <a:prstGeom prst="rect">
            <a:avLst/>
          </a:prstGeom>
          <a:solidFill>
            <a:srgbClr val="2A3550"/>
          </a:solidFill>
          <a:ln/>
        </p:spPr>
      </p:sp>
      <p:sp>
        <p:nvSpPr>
          <p:cNvPr id="23" name="Text 21"/>
          <p:cNvSpPr/>
          <p:nvPr/>
        </p:nvSpPr>
        <p:spPr>
          <a:xfrm>
            <a:off x="2350008" y="292608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seed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2926080"/>
            <a:ext cx="3703320" cy="402336"/>
          </a:xfrm>
          <a:prstGeom prst="rect">
            <a:avLst/>
          </a:prstGeom>
          <a:solidFill>
            <a:srgbClr val="2A3550"/>
          </a:solidFill>
          <a:ln/>
        </p:spPr>
      </p:sp>
      <p:sp>
        <p:nvSpPr>
          <p:cNvPr id="25" name="Text 23"/>
          <p:cNvSpPr/>
          <p:nvPr/>
        </p:nvSpPr>
        <p:spPr>
          <a:xfrm>
            <a:off x="6419088" y="292608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(pass/fail line)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012680" y="2926080"/>
            <a:ext cx="1645920" cy="402336"/>
          </a:xfrm>
          <a:prstGeom prst="rect">
            <a:avLst/>
          </a:prstGeom>
          <a:solidFill>
            <a:srgbClr val="2A3550"/>
          </a:solidFill>
          <a:ln/>
        </p:spPr>
      </p:sp>
      <p:sp>
        <p:nvSpPr>
          <p:cNvPr id="27" name="Text 25"/>
          <p:cNvSpPr/>
          <p:nvPr/>
        </p:nvSpPr>
        <p:spPr>
          <a:xfrm>
            <a:off x="10122408" y="2926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328416"/>
            <a:ext cx="1737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33284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bola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40280" y="3328416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50008" y="3328416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another user's object across an authz boundary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09360" y="3328416"/>
            <a:ext cx="37033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19088" y="332841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i="1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if a tool touches an object the caller doesn't own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012680" y="3328416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12680" y="332841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3877056"/>
            <a:ext cx="1737360" cy="548640"/>
          </a:xfrm>
          <a:prstGeom prst="rect">
            <a:avLst/>
          </a:prstGeom>
          <a:solidFill>
            <a:srgbClr val="EEF1F6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38770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prompt-extraction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240280" y="3877056"/>
            <a:ext cx="4069080" cy="548640"/>
          </a:xfrm>
          <a:prstGeom prst="rect">
            <a:avLst/>
          </a:prstGeom>
          <a:solidFill>
            <a:srgbClr val="EEF1F6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350008" y="3877056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target reveal its actual system instructions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309360" y="3877056"/>
            <a:ext cx="3703320" cy="548640"/>
          </a:xfrm>
          <a:prstGeom prst="rect">
            <a:avLst/>
          </a:prstGeom>
          <a:solidFill>
            <a:srgbClr val="EEF1F6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9088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i="1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if the system prompt or canary is disclosed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012680" y="3877056"/>
            <a:ext cx="1645920" cy="548640"/>
          </a:xfrm>
          <a:prstGeom prst="rect">
            <a:avLst/>
          </a:prstGeom>
          <a:solidFill>
            <a:srgbClr val="EEF1F6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012680" y="387705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02920" y="4425696"/>
            <a:ext cx="1737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" y="44256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harmful:self-harm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240280" y="4425696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350008" y="4425696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 operational, actionable real-world content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309360" y="4425696"/>
            <a:ext cx="37033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19088" y="442569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i="1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if it returns actionable harmful detail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012680" y="4425696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12680" y="442569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4974336"/>
            <a:ext cx="1737360" cy="548640"/>
          </a:xfrm>
          <a:prstGeom prst="rect">
            <a:avLst/>
          </a:prstGeom>
          <a:solidFill>
            <a:srgbClr val="EEF1F6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2648" y="49743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excessive-agency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240280" y="4974336"/>
            <a:ext cx="4069080" cy="548640"/>
          </a:xfrm>
          <a:prstGeom prst="rect">
            <a:avLst/>
          </a:prstGeom>
          <a:solidFill>
            <a:srgbClr val="EEF1F6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350008" y="4974336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tool outside the caller's allowed set or past a cap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309360" y="4974336"/>
            <a:ext cx="3703320" cy="548640"/>
          </a:xfrm>
          <a:prstGeom prst="rect">
            <a:avLst/>
          </a:prstGeom>
          <a:solidFill>
            <a:srgbClr val="EEF1F6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19088" y="497433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i="1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if a tool executes outside allowed scope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12680" y="4974336"/>
            <a:ext cx="1645920" cy="548640"/>
          </a:xfrm>
          <a:prstGeom prst="rect">
            <a:avLst/>
          </a:prstGeom>
          <a:solidFill>
            <a:srgbClr val="EEF1F6"/>
          </a:solidFill>
          <a:ln w="6350">
            <a:solidFill>
              <a:srgbClr val="E4E8E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12680" y="49743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724144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16200000">
              <a:srgbClr val="9AA4B8">
                <a:alpha val="24000"/>
              </a:srgbClr>
            </a:outerShdw>
          </a:effectLst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879592"/>
            <a:ext cx="310896" cy="310896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1234440" y="5724144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evidence modes — </a:t>
            </a:r>
            <a:pPr indent="0" marL="0">
              <a:buNone/>
            </a:pPr>
            <a:r>
              <a:rPr lang="en-US" sz="12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Text-layer graders read the prose; Trace-layer graders resolve tool calls &amp; ownership.   </a:t>
            </a:r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Promptfoo pass=safe is inverted to PyRIT true=violation.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113842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Red-Teaming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PyRIT strategies — one fork decides everything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794760" cy="484632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057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BUILDING BLOCKS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496312"/>
            <a:ext cx="457200" cy="457200"/>
          </a:xfrm>
          <a:prstGeom prst="ellipse">
            <a:avLst/>
          </a:prstGeom>
          <a:solidFill>
            <a:srgbClr val="9E2B25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610612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4597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target   </a:t>
            </a:r>
            <a:pPr indent="0" marL="0">
              <a:buNone/>
            </a:pPr>
            <a:r>
              <a:rPr lang="en-US" sz="1000" i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417320" y="273405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under test — your gateway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3209544"/>
            <a:ext cx="457200" cy="457200"/>
          </a:xfrm>
          <a:prstGeom prst="ellipse">
            <a:avLst/>
          </a:prstGeom>
          <a:solidFill>
            <a:srgbClr val="2A3550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323844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31729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chat   </a:t>
            </a:r>
            <a:pPr indent="0" marL="0">
              <a:buNone/>
            </a:pPr>
            <a:r>
              <a:rPr lang="en-US" sz="1000" i="1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only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417320" y="34472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LLM that writes the attacks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22960" y="3922776"/>
            <a:ext cx="457200" cy="457200"/>
          </a:xfrm>
          <a:prstGeom prst="ellipse">
            <a:avLst/>
          </a:prstGeom>
          <a:solidFill>
            <a:srgbClr val="2C8A86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4037076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3886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  </a:t>
            </a:r>
            <a:pPr indent="0" marL="0">
              <a:buNone/>
            </a:pPr>
            <a:r>
              <a:rPr lang="en-US" sz="1000" i="1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417320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auto-judge: success? refusal?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22960" y="4636008"/>
            <a:ext cx="457200" cy="457200"/>
          </a:xfrm>
          <a:prstGeom prst="ellipse">
            <a:avLst/>
          </a:prstGeom>
          <a:solidFill>
            <a:srgbClr val="C6892E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4750308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17320" y="4599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  </a:t>
            </a:r>
            <a:pPr indent="0" marL="0">
              <a:buNone/>
            </a:pPr>
            <a:r>
              <a:rPr lang="en-US" sz="1000" i="1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1417320" y="48737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 the prompt before send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77240" y="5367528"/>
            <a:ext cx="3246120" cy="914400"/>
          </a:xfrm>
          <a:prstGeom prst="roundRect">
            <a:avLst>
              <a:gd name="adj" fmla="val 9000"/>
            </a:avLst>
          </a:prstGeom>
          <a:solidFill>
            <a:srgbClr val="F6E9E7"/>
          </a:solidFill>
          <a:ln w="12700">
            <a:solidFill>
              <a:srgbClr val="9E2B25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568696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463040" y="5394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 I need an attacker LLM?”  </a:t>
            </a:r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whether you must pass an adversarial config — the #1 reason a first script fails.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4526280" y="1783080"/>
            <a:ext cx="2392680" cy="3063240"/>
          </a:xfrm>
          <a:prstGeom prst="roundRect">
            <a:avLst>
              <a:gd name="adj" fmla="val 3439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4782312" y="2002536"/>
            <a:ext cx="193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 · STATIC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4782312" y="2276856"/>
            <a:ext cx="193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attacker LLM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4782312" y="267919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PromptSending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4782312" y="289864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— direct + converters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4782312" y="318211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FlipAttack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4782312" y="340156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surface string filters</a:t>
            </a:r>
            <a:endParaRPr lang="en-US" sz="950" dirty="0"/>
          </a:p>
        </p:txBody>
      </p:sp>
      <p:sp>
        <p:nvSpPr>
          <p:cNvPr id="32" name="Text 25"/>
          <p:cNvSpPr/>
          <p:nvPr/>
        </p:nvSpPr>
        <p:spPr>
          <a:xfrm>
            <a:off x="4782312" y="368503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ManyShot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4782312" y="390448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in-context safety decay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4782312" y="418795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SkeletonKey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4782312" y="440740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preamble baseline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7147560" y="1783080"/>
            <a:ext cx="2392680" cy="3063240"/>
          </a:xfrm>
          <a:prstGeom prst="roundRect">
            <a:avLst>
              <a:gd name="adj" fmla="val 3439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37" name="Text 30"/>
          <p:cNvSpPr/>
          <p:nvPr/>
        </p:nvSpPr>
        <p:spPr>
          <a:xfrm>
            <a:off x="7403592" y="2002536"/>
            <a:ext cx="193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 · ADAPTIVE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7403592" y="2276856"/>
            <a:ext cx="193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LLM required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7403592" y="267919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ContextCompliance</a:t>
            </a:r>
            <a:endParaRPr lang="en-US" sz="1100" dirty="0"/>
          </a:p>
        </p:txBody>
      </p:sp>
      <p:sp>
        <p:nvSpPr>
          <p:cNvPr id="40" name="Text 33"/>
          <p:cNvSpPr/>
          <p:nvPr/>
        </p:nvSpPr>
        <p:spPr>
          <a:xfrm>
            <a:off x="7403592" y="289864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fabricates prior turns</a:t>
            </a:r>
            <a:endParaRPr lang="en-US" sz="950" dirty="0"/>
          </a:p>
        </p:txBody>
      </p:sp>
      <p:sp>
        <p:nvSpPr>
          <p:cNvPr id="41" name="Text 34"/>
          <p:cNvSpPr/>
          <p:nvPr/>
        </p:nvSpPr>
        <p:spPr>
          <a:xfrm>
            <a:off x="7403592" y="318211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RolePlay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7403592" y="340156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/ scenario reframe</a:t>
            </a:r>
            <a:endParaRPr lang="en-US" sz="950" dirty="0"/>
          </a:p>
        </p:txBody>
      </p:sp>
      <p:sp>
        <p:nvSpPr>
          <p:cNvPr id="43" name="Text 36"/>
          <p:cNvSpPr/>
          <p:nvPr/>
        </p:nvSpPr>
        <p:spPr>
          <a:xfrm>
            <a:off x="7403592" y="4023360"/>
            <a:ext cx="1935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Framing-based refusal bypass — without paying for a full multi-turn loop.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9768840" y="1783080"/>
            <a:ext cx="2392680" cy="3063240"/>
          </a:xfrm>
          <a:prstGeom prst="roundRect">
            <a:avLst>
              <a:gd name="adj" fmla="val 3439"/>
            </a:avLst>
          </a:prstGeom>
          <a:solidFill>
            <a:srgbClr val="F6E9E7"/>
          </a:solidFill>
          <a:ln w="15875">
            <a:solidFill>
              <a:srgbClr val="9E2B25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10024872" y="2002536"/>
            <a:ext cx="193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· ADAPTIVE</a:t>
            </a:r>
            <a:endParaRPr lang="en-US" sz="1300" dirty="0"/>
          </a:p>
        </p:txBody>
      </p:sp>
      <p:sp>
        <p:nvSpPr>
          <p:cNvPr id="46" name="Text 39"/>
          <p:cNvSpPr/>
          <p:nvPr/>
        </p:nvSpPr>
        <p:spPr>
          <a:xfrm>
            <a:off x="10024872" y="2276856"/>
            <a:ext cx="193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LLM required</a:t>
            </a:r>
            <a:endParaRPr lang="en-US" sz="1000" dirty="0"/>
          </a:p>
        </p:txBody>
      </p:sp>
      <p:sp>
        <p:nvSpPr>
          <p:cNvPr id="47" name="Text 40"/>
          <p:cNvSpPr/>
          <p:nvPr/>
        </p:nvSpPr>
        <p:spPr>
          <a:xfrm>
            <a:off x="10024872" y="267919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RedTeaming</a:t>
            </a:r>
            <a:endParaRPr lang="en-US" sz="1100" dirty="0"/>
          </a:p>
        </p:txBody>
      </p:sp>
      <p:sp>
        <p:nvSpPr>
          <p:cNvPr id="48" name="Text 41"/>
          <p:cNvSpPr/>
          <p:nvPr/>
        </p:nvSpPr>
        <p:spPr>
          <a:xfrm>
            <a:off x="10024872" y="289864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goal-directed loop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10024872" y="318211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Crescendo</a:t>
            </a:r>
            <a:endParaRPr lang="en-US" sz="1100" dirty="0"/>
          </a:p>
        </p:txBody>
      </p:sp>
      <p:sp>
        <p:nvSpPr>
          <p:cNvPr id="50" name="Text 43"/>
          <p:cNvSpPr/>
          <p:nvPr/>
        </p:nvSpPr>
        <p:spPr>
          <a:xfrm>
            <a:off x="10024872" y="340156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escalate + backtrack</a:t>
            </a:r>
            <a:endParaRPr lang="en-US" sz="950" dirty="0"/>
          </a:p>
        </p:txBody>
      </p:sp>
      <p:sp>
        <p:nvSpPr>
          <p:cNvPr id="51" name="Text 44"/>
          <p:cNvSpPr/>
          <p:nvPr/>
        </p:nvSpPr>
        <p:spPr>
          <a:xfrm>
            <a:off x="10024872" y="368503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</a:t>
            </a:r>
            <a:endParaRPr lang="en-US" sz="1100" dirty="0"/>
          </a:p>
        </p:txBody>
      </p:sp>
      <p:sp>
        <p:nvSpPr>
          <p:cNvPr id="52" name="Text 45"/>
          <p:cNvSpPr/>
          <p:nvPr/>
        </p:nvSpPr>
        <p:spPr>
          <a:xfrm>
            <a:off x="10024872" y="390448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search, prune weak paths</a:t>
            </a:r>
            <a:endParaRPr lang="en-US" sz="950" dirty="0"/>
          </a:p>
        </p:txBody>
      </p:sp>
      <p:sp>
        <p:nvSpPr>
          <p:cNvPr id="53" name="Text 46"/>
          <p:cNvSpPr/>
          <p:nvPr/>
        </p:nvSpPr>
        <p:spPr>
          <a:xfrm>
            <a:off x="10024872" y="4187952"/>
            <a:ext cx="1935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</a:t>
            </a:r>
            <a:endParaRPr lang="en-US" sz="1100" dirty="0"/>
          </a:p>
        </p:txBody>
      </p:sp>
      <p:sp>
        <p:nvSpPr>
          <p:cNvPr id="54" name="Text 47"/>
          <p:cNvSpPr/>
          <p:nvPr/>
        </p:nvSpPr>
        <p:spPr>
          <a:xfrm>
            <a:off x="10024872" y="4407408"/>
            <a:ext cx="1935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iterative refinement</a:t>
            </a:r>
            <a:endParaRPr lang="en-US" sz="950" dirty="0"/>
          </a:p>
        </p:txBody>
      </p:sp>
      <p:sp>
        <p:nvSpPr>
          <p:cNvPr id="55" name="Shape 48"/>
          <p:cNvSpPr/>
          <p:nvPr/>
        </p:nvSpPr>
        <p:spPr>
          <a:xfrm>
            <a:off x="4526280" y="5029200"/>
            <a:ext cx="7635240" cy="1554480"/>
          </a:xfrm>
          <a:prstGeom prst="roundRect">
            <a:avLst>
              <a:gd name="adj" fmla="val 5294"/>
            </a:avLst>
          </a:prstGeom>
          <a:solidFill>
            <a:srgbClr val="F5F7FA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16200000">
              <a:srgbClr val="9AA4B8">
                <a:alpha val="24000"/>
              </a:srgbClr>
            </a:outerShdw>
          </a:effectLst>
        </p:spPr>
      </p:sp>
      <p:sp>
        <p:nvSpPr>
          <p:cNvPr id="56" name="Text 49"/>
          <p:cNvSpPr/>
          <p:nvPr/>
        </p:nvSpPr>
        <p:spPr>
          <a:xfrm>
            <a:off x="4800600" y="5230368"/>
            <a:ext cx="7086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POC USES THEM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4800600" y="5532120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  </a:t>
            </a:r>
            <a:pPr indent="0" marL="0"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PromptSending + persuasion/encoding converters, best-of-n.    </a:t>
            </a:r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 </a:t>
            </a:r>
            <a:pPr indent="0" marL="0"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Crescendo / RedTeaming / TAP driven by the Dolphin attacker LLM.</a:t>
            </a:r>
            <a:endParaRPr lang="en-US" sz="1250" dirty="0"/>
          </a:p>
        </p:txBody>
      </p:sp>
      <p:sp>
        <p:nvSpPr>
          <p:cNvPr id="58" name="Text 51"/>
          <p:cNvSpPr/>
          <p:nvPr/>
        </p:nvSpPr>
        <p:spPr>
          <a:xfrm>
            <a:off x="4800600" y="6016752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 objects (0.14.x):  </a:t>
            </a:r>
            <a:pPr indent="0" marL="0">
              <a:buNone/>
            </a:pPr>
            <a:r>
              <a:rPr lang="en-US" sz="1050" dirty="0">
                <a:solidFill>
                  <a:srgbClr val="5A65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AttackAdversarialConfig(target=…) · AttackScoringConfig(objective_scorer=…) · AttackConverterConfig(request_converters=[…])</a:t>
            </a:r>
            <a:endParaRPr lang="en-US" sz="1050" dirty="0"/>
          </a:p>
        </p:txBody>
      </p:sp>
      <p:sp>
        <p:nvSpPr>
          <p:cNvPr id="59" name="Text 52"/>
          <p:cNvSpPr/>
          <p:nvPr/>
        </p:nvSpPr>
        <p:spPr>
          <a:xfrm>
            <a:off x="113842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0" name="Text 53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Red-Teaming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PROMPT-CRAFTING · OPTIONAL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Persuasion angles for single-turn, PyRIT-native for multi-turn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55680" cy="713232"/>
          </a:xfrm>
          <a:prstGeom prst="roundRect">
            <a:avLst>
              <a:gd name="adj" fmla="val 11538"/>
            </a:avLst>
          </a:prstGeom>
          <a:solidFill>
            <a:srgbClr val="F5F7FA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691640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= HOW you ask (rhetoric, stored as metadata).   </a:t>
            </a:r>
            <a:pPr indent="0" marL="0">
              <a:buNone/>
            </a:pPr>
            <a:r>
              <a:rPr lang="en-US" sz="14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= WHAT counts as success (behavior-defined, rhetoric-free, gradeable).   Never blend the two.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697480"/>
            <a:ext cx="5486400" cy="2788920"/>
          </a:xfrm>
          <a:prstGeom prst="roundRect">
            <a:avLst>
              <a:gd name="adj" fmla="val 2951"/>
            </a:avLst>
          </a:prstGeom>
          <a:solidFill>
            <a:srgbClr val="F6E9E7"/>
          </a:solidFill>
          <a:ln w="15875">
            <a:solidFill>
              <a:srgbClr val="9E2B25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971800"/>
            <a:ext cx="566928" cy="566928"/>
          </a:xfrm>
          <a:prstGeom prst="ellipse">
            <a:avLst/>
          </a:prstGeom>
          <a:solidFill>
            <a:srgbClr val="9E2B25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3113532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 — PAP angles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554480" y="32644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Zeng et al., ACL 2024 · 40 techniques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36301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as rhetorical framing at craft time — the objective underneath stays identical.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22960" y="4251960"/>
            <a:ext cx="146486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E2B2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4251960"/>
            <a:ext cx="14648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452421" y="4251960"/>
            <a:ext cx="146486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E2B2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452421" y="4251960"/>
            <a:ext cx="14648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Appeal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22960" y="4709160"/>
            <a:ext cx="180502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E2B2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2960" y="4709160"/>
            <a:ext cx="18050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Endorsement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2792578" y="4709160"/>
            <a:ext cx="1039673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E2B2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792578" y="4709160"/>
            <a:ext cx="10396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3996842" y="4709160"/>
            <a:ext cx="129479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E2B2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96842" y="4709160"/>
            <a:ext cx="1294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Proof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22960" y="5166360"/>
            <a:ext cx="1634947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E2B2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2960" y="5166360"/>
            <a:ext cx="16349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Foot-in-the-door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22960" y="5029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ethical angles default · </a:t>
            </a:r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unethical gated behind an explicit flag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172200" y="2697480"/>
            <a:ext cx="548640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6492240" y="2971800"/>
            <a:ext cx="566928" cy="566928"/>
          </a:xfrm>
          <a:prstGeom prst="ellipse">
            <a:avLst/>
          </a:prstGeom>
          <a:solidFill>
            <a:srgbClr val="2A3550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3113532"/>
            <a:ext cx="283464" cy="28346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223760" y="299008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— PyRIT native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7223760" y="326440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LLM improvises framing per turn</a:t>
            </a:r>
            <a:endParaRPr lang="en-US" sz="11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3785616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885432" y="3721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Crescendo  </a:t>
            </a:r>
            <a:pPr indent="0" marL="0"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escalates over benign turns, backtracks when resisted</a:t>
            </a:r>
            <a:endParaRPr lang="en-US" sz="125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288536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885432" y="4224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  </a:t>
            </a:r>
            <a:pPr indent="0" marL="0"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branches, explores, prunes weak paths</a:t>
            </a:r>
            <a:endParaRPr lang="en-US" sz="1250" dirty="0"/>
          </a:p>
        </p:txBody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791456"/>
            <a:ext cx="219456" cy="21945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885432" y="47274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RedTeaming  </a:t>
            </a:r>
            <a:pPr indent="0" marL="0"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steers each turn toward the objective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6492240" y="4526280"/>
            <a:ext cx="4846320" cy="713232"/>
          </a:xfrm>
          <a:prstGeom prst="roundRect">
            <a:avLst>
              <a:gd name="adj" fmla="val 11538"/>
            </a:avLst>
          </a:prstGeom>
          <a:solidFill>
            <a:srgbClr val="F5F7FA"/>
          </a:solidFill>
          <a:ln w="12700">
            <a:solidFill>
              <a:srgbClr val="E4E8EF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6720840" y="452628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static angle library needed — </a:t>
            </a:r>
            <a:pPr indent="0" marL="0">
              <a:buNone/>
            </a:pPr>
            <a:r>
              <a:rPr lang="en-US" sz="11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generates framing dynamically, so persuasion is emergent, not enumerated.</a:t>
            </a:r>
            <a:endParaRPr lang="en-US" sz="1150" dirty="0"/>
          </a:p>
        </p:txBody>
      </p:sp>
      <p:sp>
        <p:nvSpPr>
          <p:cNvPr id="39" name="Text 31"/>
          <p:cNvSpPr/>
          <p:nvPr/>
        </p:nvSpPr>
        <p:spPr>
          <a:xfrm>
            <a:off x="113842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0" name="Text 32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Red-Teaming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POC PROVES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Adaptive + trace-grounded = findings static probes can't reach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03520" cy="1600200"/>
          </a:xfrm>
          <a:prstGeom prst="roundRect">
            <a:avLst>
              <a:gd name="adj" fmla="val 5143"/>
            </a:avLst>
          </a:prstGeom>
          <a:solidFill>
            <a:srgbClr val="F6E9E7"/>
          </a:solidFill>
          <a:ln w="15875">
            <a:solidFill>
              <a:srgbClr val="9E2B25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2185416"/>
            <a:ext cx="640080" cy="640080"/>
          </a:xfrm>
          <a:prstGeom prst="ellipse">
            <a:avLst/>
          </a:prstGeom>
          <a:solidFill>
            <a:srgbClr val="9E2B25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345436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6712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behavior, not prose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45920" y="25877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come from tool calls &amp; side effects in the trace — the agent-layer truth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1874520"/>
            <a:ext cx="530352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47688" y="2185416"/>
            <a:ext cx="640080" cy="640080"/>
          </a:xfrm>
          <a:prstGeom prst="ellipse">
            <a:avLst/>
          </a:prstGeom>
          <a:solidFill>
            <a:srgbClr val="2A3550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708" y="2345436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16712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agentic failure classes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98080" y="25877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authorization, tool misuse, goal hijack, multi-turn escalation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3703320"/>
            <a:ext cx="530352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8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5528" y="4014216"/>
            <a:ext cx="640080" cy="640080"/>
          </a:xfrm>
          <a:prstGeom prst="ellipse">
            <a:avLst/>
          </a:prstGeom>
          <a:solidFill>
            <a:srgbClr val="2C8A86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" y="4174236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99592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taxonomy traceability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45920" y="44165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maps Promptfoo → PyRIT scorer, reproducibly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55080" y="3703320"/>
            <a:ext cx="5303520" cy="1600200"/>
          </a:xfrm>
          <a:prstGeom prst="roundRect">
            <a:avLst>
              <a:gd name="adj" fmla="val 5143"/>
            </a:avLst>
          </a:prstGeom>
          <a:solidFill>
            <a:srgbClr val="F6E9E7"/>
          </a:solidFill>
          <a:ln w="15875">
            <a:solidFill>
              <a:srgbClr val="9E2B25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8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47688" y="4014216"/>
            <a:ext cx="640080" cy="640080"/>
          </a:xfrm>
          <a:prstGeom prst="ellipse">
            <a:avLst/>
          </a:prstGeom>
          <a:solidFill>
            <a:srgbClr val="C6892E"/>
          </a:solidFill>
          <a:ln/>
          <a:effectLst>
            <a:outerShdw sx="100000" sy="100000" kx="0" ky="0" algn="bl" rotWithShape="0" blurRad="63500" dist="25400" dir="5400000">
              <a:srgbClr val="9AA4B8">
                <a:alpha val="2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708" y="4174236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98080" y="399592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Data-sovereign by design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98080" y="44165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attacker, grader, corpus and traces stay in-house / air-gapped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02920" y="566928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2A3550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25400" dir="16200000">
              <a:srgbClr val="9AA4B8">
                <a:alpha val="24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5669280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same harness becomes a CI-integrated regression gate across any agent the bank deploys.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113842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8B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Red-Teaming · Agentic AI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Red-Teaming for Agentic AI</dc:title>
  <dc:subject>PptxGenJS Presentation</dc:subject>
  <dc:creator>AI Security — DBS</dc:creator>
  <cp:lastModifiedBy>AI Security — DBS</cp:lastModifiedBy>
  <cp:revision>1</cp:revision>
  <dcterms:created xsi:type="dcterms:W3CDTF">2026-07-09T18:11:35Z</dcterms:created>
  <dcterms:modified xsi:type="dcterms:W3CDTF">2026-07-09T18:11:35Z</dcterms:modified>
</cp:coreProperties>
</file>