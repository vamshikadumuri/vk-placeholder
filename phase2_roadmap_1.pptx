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— filled dot = delivered, hollow = planned, matching the legend on the engagements slide. Solid line to today, dashed after.
CONFIRM the 2027 date for Phase 2 in service before presenting — it is indicative.
PROMPTFOO — MIT licensed open source, acquired by OpenAI, still open source. OpenAI also sells a managed enterprise red teaming offering. Not commercial-only; we can trial it free.
SANTANDER — tracking, not a candidate engine. autoguardrails (Apache-2.0, Banco Santander AI Lab) evolves adversarial prompts against a policy.md to harden the policy. Complements PyRIT rather than replacing it.
RED HAT — OpenShift AI 3.4 integrates garak into its evaluation stack; Chatterbox Labs (Dec 2025) adds agent adversarial testing and MCP injection detection. Lowest migration cost.
F5 — we red team F5 Guardrail as a control AND F5 AI Red Team is a candidate. Independence question.
VERIFY Prisma AIRS capability claims before presenting.
The three Phase 1 limitations map to the GAP / CUSTOM rows on the OWASP coverage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Phase 2 (Adaptive)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PyRIT + garak (adaptive probes) is the baseline — options are assessed against it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Phase 2: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probes are single-turn, fixed-payload and model-only. They do not reach multi-turn escalation, novel phrasings, or agent tool and MCP paths.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487168"/>
            <a:ext cx="1234440" cy="0"/>
          </a:xfrm>
          <a:prstGeom prst="line">
            <a:avLst/>
          </a:prstGeom>
          <a:noFill/>
          <a:ln w="22225">
            <a:solidFill>
              <a:srgbClr val="A619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2487168"/>
            <a:ext cx="8503920" cy="0"/>
          </a:xfrm>
          <a:prstGeom prst="line">
            <a:avLst/>
          </a:prstGeom>
          <a:noFill/>
          <a:ln w="22225">
            <a:solidFill>
              <a:srgbClr val="CFC4B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57200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75104" y="2359152"/>
            <a:ext cx="256032" cy="256032"/>
          </a:xfrm>
          <a:prstGeom prst="ellipse">
            <a:avLst/>
          </a:prstGeom>
          <a:solidFill>
            <a:srgbClr val="A6192E"/>
          </a:solidFill>
          <a:ln w="22225">
            <a:solidFill>
              <a:srgbClr val="A619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live — garak static probing as a self-service capability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52744" y="2359152"/>
            <a:ext cx="256032" cy="256032"/>
          </a:xfrm>
          <a:prstGeom prst="ellipse">
            <a:avLst/>
          </a:prstGeom>
          <a:solidFill>
            <a:srgbClr val="F4EEE4"/>
          </a:solidFill>
          <a:ln w="22225">
            <a:solidFill>
              <a:srgbClr val="A619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options · PoC PyRIT + garak adaptive probes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930384" y="2359152"/>
            <a:ext cx="256032" cy="256032"/>
          </a:xfrm>
          <a:prstGeom prst="ellipse">
            <a:avLst/>
          </a:prstGeom>
          <a:solidFill>
            <a:srgbClr val="F4EEE4"/>
          </a:solidFill>
          <a:ln w="22225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adaptive, multi-turn testing in service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to assess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2075688" cy="1051560"/>
          </a:xfrm>
          <a:prstGeom prst="roundRect">
            <a:avLst>
              <a:gd name="adj" fmla="val 5217"/>
            </a:avLst>
          </a:prstGeom>
          <a:solidFill>
            <a:srgbClr val="FBF8F3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4041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AIRS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" y="47183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platform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79776" y="3950208"/>
            <a:ext cx="2075688" cy="1051560"/>
          </a:xfrm>
          <a:prstGeom prst="roundRect">
            <a:avLst>
              <a:gd name="adj" fmla="val 5217"/>
            </a:avLst>
          </a:prstGeom>
          <a:solidFill>
            <a:srgbClr val="FBF8F3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080" y="4041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7183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3950208"/>
            <a:ext cx="2075688" cy="1051560"/>
          </a:xfrm>
          <a:prstGeom prst="roundRect">
            <a:avLst>
              <a:gd name="adj" fmla="val 5217"/>
            </a:avLst>
          </a:prstGeom>
          <a:solidFill>
            <a:srgbClr val="FBF8F3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02936" y="4041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AI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02936" y="47183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F5 AI Guardrails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33488" y="3950208"/>
            <a:ext cx="2075688" cy="1051560"/>
          </a:xfrm>
          <a:prstGeom prst="roundRect">
            <a:avLst>
              <a:gd name="adj" fmla="val 5217"/>
            </a:avLst>
          </a:prstGeom>
          <a:solidFill>
            <a:srgbClr val="FBF8F3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79792" y="4041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479792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AI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47183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garak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10344" y="3950208"/>
            <a:ext cx="2075688" cy="1051560"/>
          </a:xfrm>
          <a:prstGeom prst="roundRect">
            <a:avLst>
              <a:gd name="adj" fmla="val 5217"/>
            </a:avLst>
          </a:prstGeom>
          <a:solidFill>
            <a:srgbClr val="EEE7DC"/>
          </a:solidFill>
          <a:ln w="9525">
            <a:solidFill>
              <a:srgbClr val="CFC4B4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9756648" y="4041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9756648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</a:t>
            </a:r>
            <a:endParaRPr lang="en-US" sz="1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autoguardrails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756648" y="47183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side, not engine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230368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gaps  ·  agentic and MCP coverage  ·  non-English for HK  ·  integration with DBS bots, Agent Marketplace and ALAN  ·  cost and run-time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577900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PoC PyRIT + garak in the roadmap. No option is adopted unless it beats that baseline.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2026-09-08T08:53:55Z</dcterms:created>
  <dcterms:modified xsi:type="dcterms:W3CDTF">2026-09-08T08:53:55Z</dcterms:modified>
</cp:coreProperties>
</file>