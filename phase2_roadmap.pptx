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PROMPTFOO — MIT licensed open source, acquired by OpenAI (still open source). OpenAI also sells a managed "OpenAI Red Teaming" enterprise offering. Do NOT label it commercial; we can trial the open-source version at no cost.
SANTANDER — deliberately shown as tracking, not a candidate engine. autoguardrails (Apache-2.0, Banco Santander AI Lab) evolves adversarial prompts against a policy.md to harden the policy. It complements PyRIT rather than replacing it. Peer-bank validation of our policy-to-probe design.
RED HAT — OpenShift AI 3.4 integrates garak into its evaluation stack; Chatterbox Labs (acquired Dec 2025) adds agent adversarial testing and MCP injection detection. Lowest migration cost since it wraps our current engine.
F5 — we red team F5 Guardrail as a control AND F5 AI Red Team is a candidate. Be ready for the independence question.
VERIFY Prisma AIRS capability claims before presenting.
The three limitations map directly to the GAP / CUSTOM rows on the OWASP coverage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9144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for Phase 2 (Adaptive)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5953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 to assess in Q4 2026 — Microsoft PyRIT + garak (adaptive probes) is the baseline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3167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static probes alone are not enough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1609344"/>
            <a:ext cx="3575304" cy="804672"/>
          </a:xfrm>
          <a:prstGeom prst="roundRect">
            <a:avLst>
              <a:gd name="adj" fmla="val 6818"/>
            </a:avLst>
          </a:prstGeom>
          <a:solidFill>
            <a:srgbClr val="FBF8F3"/>
          </a:solidFill>
          <a:ln w="9525">
            <a:solidFill>
              <a:srgbClr val="DCD2C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9224" y="1700784"/>
            <a:ext cx="3282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Single-turn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49224" y="1956816"/>
            <a:ext cx="3282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Probes fire once. Real attacks escalate across a conversation.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06824" y="1609344"/>
            <a:ext cx="3575304" cy="804672"/>
          </a:xfrm>
          <a:prstGeom prst="roundRect">
            <a:avLst>
              <a:gd name="adj" fmla="val 6818"/>
            </a:avLst>
          </a:prstGeom>
          <a:solidFill>
            <a:srgbClr val="FBF8F3"/>
          </a:solidFill>
          <a:ln w="9525">
            <a:solidFill>
              <a:srgbClr val="DCD2C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53128" y="1700784"/>
            <a:ext cx="3282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payloads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453128" y="1956816"/>
            <a:ext cx="3282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known probe set each run — novel phrasings get through.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110728" y="1609344"/>
            <a:ext cx="3575304" cy="804672"/>
          </a:xfrm>
          <a:prstGeom prst="roundRect">
            <a:avLst>
              <a:gd name="adj" fmla="val 6818"/>
            </a:avLst>
          </a:prstGeom>
          <a:solidFill>
            <a:srgbClr val="FBF8F3"/>
          </a:solidFill>
          <a:ln w="9525">
            <a:solidFill>
              <a:srgbClr val="DCD2C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57032" y="1700784"/>
            <a:ext cx="3282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Model, not agent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8257032" y="1956816"/>
            <a:ext cx="3282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exercise tools, memory or MCP actions.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26151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 to assess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02920" y="2907792"/>
            <a:ext cx="2075688" cy="1188720"/>
          </a:xfrm>
          <a:prstGeom prst="roundRect">
            <a:avLst>
              <a:gd name="adj" fmla="val 4615"/>
            </a:avLst>
          </a:prstGeom>
          <a:solidFill>
            <a:srgbClr val="FBF8F3"/>
          </a:solidFill>
          <a:ln w="9525">
            <a:solidFill>
              <a:srgbClr val="DCD2C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9224" y="299923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" y="3218688"/>
            <a:ext cx="1783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Palo Alto</a:t>
            </a:r>
            <a:endParaRPr lang="en-US" sz="13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AIRS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49224" y="3730752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AI security platform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79776" y="2907792"/>
            <a:ext cx="2075688" cy="1188720"/>
          </a:xfrm>
          <a:prstGeom prst="roundRect">
            <a:avLst>
              <a:gd name="adj" fmla="val 4615"/>
            </a:avLst>
          </a:prstGeom>
          <a:solidFill>
            <a:srgbClr val="FBF8F3"/>
          </a:solidFill>
          <a:ln w="9525">
            <a:solidFill>
              <a:srgbClr val="DCD2C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926080" y="299923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2926080" y="3218688"/>
            <a:ext cx="1783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Promptfoo</a:t>
            </a:r>
            <a:endParaRPr lang="en-US" sz="13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(OpenAI)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2926080" y="3730752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licensed; managed enterprise option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056632" y="2907792"/>
            <a:ext cx="2075688" cy="1188720"/>
          </a:xfrm>
          <a:prstGeom prst="roundRect">
            <a:avLst>
              <a:gd name="adj" fmla="val 4615"/>
            </a:avLst>
          </a:prstGeom>
          <a:solidFill>
            <a:srgbClr val="FBF8F3"/>
          </a:solidFill>
          <a:ln w="9525">
            <a:solidFill>
              <a:srgbClr val="DCD2C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202936" y="299923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5202936" y="3218688"/>
            <a:ext cx="1783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 AI</a:t>
            </a:r>
            <a:endParaRPr lang="en-US" sz="13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Team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5202936" y="3730752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Ships with F5 AI Guardrails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333488" y="2907792"/>
            <a:ext cx="2075688" cy="1188720"/>
          </a:xfrm>
          <a:prstGeom prst="roundRect">
            <a:avLst>
              <a:gd name="adj" fmla="val 4615"/>
            </a:avLst>
          </a:prstGeom>
          <a:solidFill>
            <a:srgbClr val="FBF8F3"/>
          </a:solidFill>
          <a:ln w="9525">
            <a:solidFill>
              <a:srgbClr val="DCD2C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479792" y="299923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7479792" y="3218688"/>
            <a:ext cx="1783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Hat</a:t>
            </a:r>
            <a:endParaRPr lang="en-US" sz="13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OpenShift AI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7479792" y="3730752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garak; adds agent and MCP tests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9610344" y="2907792"/>
            <a:ext cx="2075688" cy="1188720"/>
          </a:xfrm>
          <a:prstGeom prst="roundRect">
            <a:avLst>
              <a:gd name="adj" fmla="val 4615"/>
            </a:avLst>
          </a:prstGeom>
          <a:solidFill>
            <a:srgbClr val="EEE7DC"/>
          </a:solidFill>
          <a:ln w="9525">
            <a:solidFill>
              <a:srgbClr val="DCD2C4"/>
            </a:solidFill>
            <a:prstDash val="dash"/>
          </a:ln>
        </p:spPr>
      </p:sp>
      <p:sp>
        <p:nvSpPr>
          <p:cNvPr id="32" name="Text 30"/>
          <p:cNvSpPr txBox="1"/>
          <p:nvPr/>
        </p:nvSpPr>
        <p:spPr>
          <a:xfrm>
            <a:off x="9756648" y="299923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· DEFENCE SIDE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9756648" y="3218688"/>
            <a:ext cx="1783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Santander</a:t>
            </a:r>
            <a:endParaRPr lang="en-US" sz="13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autoguardrails</a:t>
            </a:r>
            <a:endParaRPr lang="en-US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9756648" y="3730752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Tunes the policy, not the attack engine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502920" y="4297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Assessed against</a:t>
            </a:r>
            <a:endParaRPr lang="en-US" sz="1450" dirty="0"/>
          </a:p>
        </p:txBody>
      </p:sp>
      <p:sp>
        <p:nvSpPr>
          <p:cNvPr id="36" name="Shape 34"/>
          <p:cNvSpPr/>
          <p:nvPr/>
        </p:nvSpPr>
        <p:spPr>
          <a:xfrm>
            <a:off x="502920" y="4590288"/>
            <a:ext cx="2075688" cy="841248"/>
          </a:xfrm>
          <a:prstGeom prst="roundRect">
            <a:avLst>
              <a:gd name="adj" fmla="val 6522"/>
            </a:avLst>
          </a:prstGeom>
          <a:solidFill>
            <a:srgbClr val="FBF8F3"/>
          </a:solidFill>
          <a:ln w="9525">
            <a:solidFill>
              <a:srgbClr val="DCD2C4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9224" y="4681728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gaps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649224" y="4937760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garak and PyRIT cannot reach today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779776" y="4590288"/>
            <a:ext cx="2075688" cy="841248"/>
          </a:xfrm>
          <a:prstGeom prst="roundRect">
            <a:avLst>
              <a:gd name="adj" fmla="val 6522"/>
            </a:avLst>
          </a:prstGeom>
          <a:solidFill>
            <a:srgbClr val="FBF8F3"/>
          </a:solidFill>
          <a:ln w="9525">
            <a:solidFill>
              <a:srgbClr val="DCD2C4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2926080" y="4681728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&amp; MCP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2926080" y="4937760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 and MCP scenario coverage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056632" y="4590288"/>
            <a:ext cx="2075688" cy="841248"/>
          </a:xfrm>
          <a:prstGeom prst="roundRect">
            <a:avLst>
              <a:gd name="adj" fmla="val 6522"/>
            </a:avLst>
          </a:prstGeom>
          <a:solidFill>
            <a:srgbClr val="FBF8F3"/>
          </a:solidFill>
          <a:ln w="9525">
            <a:solidFill>
              <a:srgbClr val="DCD2C4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202936" y="4681728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Non-English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5202936" y="4937760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Chinese and Cantonese for HK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7333488" y="4590288"/>
            <a:ext cx="2075688" cy="841248"/>
          </a:xfrm>
          <a:prstGeom prst="roundRect">
            <a:avLst>
              <a:gd name="adj" fmla="val 6522"/>
            </a:avLst>
          </a:prstGeom>
          <a:solidFill>
            <a:srgbClr val="FBF8F3"/>
          </a:solidFill>
          <a:ln w="9525">
            <a:solidFill>
              <a:srgbClr val="DCD2C4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479792" y="4681728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150" dirty="0"/>
          </a:p>
        </p:txBody>
      </p:sp>
      <p:sp>
        <p:nvSpPr>
          <p:cNvPr id="47" name="Text 45"/>
          <p:cNvSpPr txBox="1"/>
          <p:nvPr/>
        </p:nvSpPr>
        <p:spPr>
          <a:xfrm>
            <a:off x="7479792" y="4937760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 bots, Agent Marketplace, ALAN attestation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9610344" y="4590288"/>
            <a:ext cx="2075688" cy="841248"/>
          </a:xfrm>
          <a:prstGeom prst="roundRect">
            <a:avLst>
              <a:gd name="adj" fmla="val 6522"/>
            </a:avLst>
          </a:prstGeom>
          <a:solidFill>
            <a:srgbClr val="FBF8F3"/>
          </a:solidFill>
          <a:ln w="9525">
            <a:solidFill>
              <a:srgbClr val="DCD2C4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9756648" y="4681728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run-time</a:t>
            </a:r>
            <a:endParaRPr lang="en-US" sz="1150" dirty="0"/>
          </a:p>
        </p:txBody>
      </p:sp>
      <p:sp>
        <p:nvSpPr>
          <p:cNvPr id="50" name="Text 48"/>
          <p:cNvSpPr txBox="1"/>
          <p:nvPr/>
        </p:nvSpPr>
        <p:spPr>
          <a:xfrm>
            <a:off x="9756648" y="4937760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our 4–6 hr dedicated-quota run</a:t>
            </a:r>
            <a:endParaRPr lang="en-US" sz="950" dirty="0"/>
          </a:p>
        </p:txBody>
      </p:sp>
      <p:sp>
        <p:nvSpPr>
          <p:cNvPr id="51" name="Text 49"/>
          <p:cNvSpPr txBox="1"/>
          <p:nvPr/>
        </p:nvSpPr>
        <p:spPr>
          <a:xfrm>
            <a:off x="502920" y="5623560"/>
            <a:ext cx="11183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— PoC PyRIT + garak (adaptive probes) in the roadmap. Options are assessed against that baseline, not instead of it.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2026-09-08T08:50:39Z</dcterms:created>
  <dcterms:modified xsi:type="dcterms:W3CDTF">2026-09-08T08:50:39Z</dcterms:modified>
</cp:coreProperties>
</file>